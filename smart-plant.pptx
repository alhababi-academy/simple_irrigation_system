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6" r:id="rId1"/>
  </p:sldMasterIdLst>
  <p:sldIdLst>
    <p:sldId id="256" r:id="rId2"/>
    <p:sldId id="257" r:id="rId3"/>
    <p:sldId id="258" r:id="rId4"/>
    <p:sldId id="259" r:id="rId5"/>
    <p:sldId id="260" r:id="rId6"/>
    <p:sldId id="265" r:id="rId7"/>
    <p:sldId id="301" r:id="rId8"/>
    <p:sldId id="272" r:id="rId9"/>
    <p:sldId id="261" r:id="rId10"/>
    <p:sldId id="302" r:id="rId11"/>
    <p:sldId id="303" r:id="rId12"/>
    <p:sldId id="275" r:id="rId13"/>
    <p:sldId id="276" r:id="rId14"/>
    <p:sldId id="278" r:id="rId15"/>
    <p:sldId id="294" r:id="rId16"/>
    <p:sldId id="295" r:id="rId17"/>
    <p:sldId id="296" r:id="rId18"/>
    <p:sldId id="297" r:id="rId19"/>
    <p:sldId id="298" r:id="rId20"/>
    <p:sldId id="299" r:id="rId21"/>
    <p:sldId id="300" r:id="rId22"/>
    <p:sldId id="262" r:id="rId23"/>
    <p:sldId id="293" r:id="rId24"/>
    <p:sldId id="263" r:id="rId25"/>
    <p:sldId id="264" r:id="rId26"/>
    <p:sldId id="266" r:id="rId27"/>
    <p:sldId id="267" r:id="rId28"/>
    <p:sldId id="268" r:id="rId29"/>
    <p:sldId id="269" r:id="rId30"/>
    <p:sldId id="274" r:id="rId31"/>
    <p:sldId id="281" r:id="rId32"/>
    <p:sldId id="270" r:id="rId33"/>
    <p:sldId id="279" r:id="rId34"/>
    <p:sldId id="271" r:id="rId35"/>
    <p:sldId id="304" r:id="rId36"/>
    <p:sldId id="305" r:id="rId37"/>
    <p:sldId id="306" r:id="rId38"/>
    <p:sldId id="307" r:id="rId39"/>
    <p:sldId id="308" r:id="rId40"/>
    <p:sldId id="309" r:id="rId41"/>
    <p:sldId id="310" r:id="rId42"/>
    <p:sldId id="311" r:id="rId43"/>
    <p:sldId id="277" r:id="rId44"/>
    <p:sldId id="282" r:id="rId45"/>
    <p:sldId id="283" r:id="rId46"/>
    <p:sldId id="284" r:id="rId47"/>
    <p:sldId id="286" r:id="rId48"/>
    <p:sldId id="287" r:id="rId49"/>
    <p:sldId id="288" r:id="rId50"/>
    <p:sldId id="289" r:id="rId51"/>
    <p:sldId id="290" r:id="rId52"/>
    <p:sldId id="291" r:id="rId53"/>
    <p:sldId id="292"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72"/>
    <p:restoredTop sz="96405"/>
  </p:normalViewPr>
  <p:slideViewPr>
    <p:cSldViewPr snapToGrid="0" snapToObjects="1">
      <p:cViewPr varScale="1">
        <p:scale>
          <a:sx n="93" d="100"/>
          <a:sy n="93" d="100"/>
        </p:scale>
        <p:origin x="51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88883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8A87A34-81AB-432B-8DAE-1953F412C126}" type="datetimeFigureOut">
              <a:rPr lang="en-US" smtClean="0"/>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46600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72314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88250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63001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8A87A34-81AB-432B-8DAE-1953F412C126}" type="datetimeFigureOut">
              <a:rPr lang="en-US" smtClean="0"/>
              <a:t>12/1/2024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48090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A87A34-81AB-432B-8DAE-1953F412C126}" type="datetimeFigureOut">
              <a:rPr lang="en-US" smtClean="0"/>
              <a:t>12/1/2024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29642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8A87A34-81AB-432B-8DAE-1953F412C126}" type="datetimeFigureOut">
              <a:rPr lang="en-US" smtClean="0"/>
              <a:t>12/1/2024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76369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74369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02615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29357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59628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95735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12/1/2024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19930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12/1/2024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380136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564485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75712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8A87A34-81AB-432B-8DAE-1953F412C126}" type="datetimeFigureOut">
              <a:rPr lang="en-US" smtClean="0"/>
              <a:pPr/>
              <a:t>12/1/2024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1646607"/>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Alhababi-Academy/simple_irrigation_syste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5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 Id="rId5" Type="http://schemas.openxmlformats.org/officeDocument/2006/relationships/image" Target="../media/image27.jpg"/><Relationship Id="rId4" Type="http://schemas.openxmlformats.org/officeDocument/2006/relationships/image" Target="../media/image26.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1C5F-9037-F840-9FEC-EC4D5C6CFEAF}"/>
              </a:ext>
            </a:extLst>
          </p:cNvPr>
          <p:cNvSpPr>
            <a:spLocks noGrp="1"/>
          </p:cNvSpPr>
          <p:nvPr>
            <p:ph type="ctrTitle"/>
          </p:nvPr>
        </p:nvSpPr>
        <p:spPr>
          <a:xfrm>
            <a:off x="-69012" y="671739"/>
            <a:ext cx="12192000" cy="1338263"/>
          </a:xfrm>
        </p:spPr>
        <p:txBody>
          <a:bodyPr>
            <a:noAutofit/>
          </a:bodyPr>
          <a:lstStyle/>
          <a:p>
            <a:pPr algn="ctr"/>
            <a:r>
              <a:rPr lang="ar-SA" sz="3600" b="1" dirty="0"/>
              <a:t>تقرير مشروع</a:t>
            </a:r>
            <a:br>
              <a:rPr lang="ar-SA" sz="3600" b="1" dirty="0"/>
            </a:br>
            <a:r>
              <a:rPr lang="en-US" sz="3600" b="1" dirty="0"/>
              <a:t>SMART PLANT</a:t>
            </a:r>
          </a:p>
        </p:txBody>
      </p:sp>
      <p:sp>
        <p:nvSpPr>
          <p:cNvPr id="3" name="Subtitle 2">
            <a:extLst>
              <a:ext uri="{FF2B5EF4-FFF2-40B4-BE49-F238E27FC236}">
                <a16:creationId xmlns:a16="http://schemas.microsoft.com/office/drawing/2014/main" id="{B0E00EF8-870D-8642-9522-443028FFEAC1}"/>
              </a:ext>
            </a:extLst>
          </p:cNvPr>
          <p:cNvSpPr>
            <a:spLocks noGrp="1"/>
          </p:cNvSpPr>
          <p:nvPr>
            <p:ph type="subTitle" idx="1"/>
          </p:nvPr>
        </p:nvSpPr>
        <p:spPr>
          <a:xfrm>
            <a:off x="7858083" y="2645210"/>
            <a:ext cx="2417463" cy="2578814"/>
          </a:xfrm>
        </p:spPr>
        <p:txBody>
          <a:bodyPr>
            <a:normAutofit fontScale="77500" lnSpcReduction="20000"/>
          </a:bodyPr>
          <a:lstStyle/>
          <a:p>
            <a:pPr marL="0" indent="0" algn="r" defTabSz="914400" rtl="1" eaLnBrk="1" latinLnBrk="0" hangingPunct="1">
              <a:lnSpc>
                <a:spcPct val="120000"/>
              </a:lnSpc>
              <a:spcBef>
                <a:spcPts val="1000"/>
              </a:spcBef>
              <a:buSzPct val="125000"/>
              <a:buFont typeface="Arial" panose="020B0604020202020204" pitchFamily="34" charset="0"/>
              <a:buNone/>
            </a:pPr>
            <a:r>
              <a:rPr lang="ar-SA" dirty="0">
                <a:solidFill>
                  <a:schemeClr val="tx1"/>
                </a:solidFill>
              </a:rPr>
              <a:t>اعداد</a:t>
            </a:r>
            <a:r>
              <a:rPr lang="en-US" dirty="0">
                <a:solidFill>
                  <a:schemeClr val="tx1"/>
                </a:solidFill>
              </a:rPr>
              <a:t> </a:t>
            </a:r>
            <a:r>
              <a:rPr lang="ar-SA" dirty="0">
                <a:solidFill>
                  <a:schemeClr val="tx1"/>
                </a:solidFill>
              </a:rPr>
              <a:t>الطلاب:</a:t>
            </a:r>
            <a:endParaRPr lang="ar-YE" dirty="0">
              <a:solidFill>
                <a:schemeClr val="tx1"/>
              </a:solidFill>
            </a:endParaRPr>
          </a:p>
          <a:p>
            <a:pPr marL="457200" indent="-457200" algn="r" defTabSz="914400" rtl="1" eaLnBrk="1" latinLnBrk="0" hangingPunct="1">
              <a:lnSpc>
                <a:spcPct val="120000"/>
              </a:lnSpc>
              <a:spcBef>
                <a:spcPts val="1000"/>
              </a:spcBef>
              <a:buSzPct val="125000"/>
              <a:buFont typeface="Arial" panose="020B0604020202020204" pitchFamily="34" charset="0"/>
              <a:buAutoNum type="arabicPeriod"/>
            </a:pPr>
            <a:r>
              <a:rPr lang="ar-YE" dirty="0">
                <a:solidFill>
                  <a:schemeClr val="tx1"/>
                </a:solidFill>
              </a:rPr>
              <a:t>عبدالرحمن الكنعان</a:t>
            </a:r>
            <a:endParaRPr lang="en-US" dirty="0">
              <a:solidFill>
                <a:schemeClr val="tx1"/>
              </a:solidFill>
            </a:endParaRPr>
          </a:p>
          <a:p>
            <a:pPr marL="457200" indent="-457200" algn="r" defTabSz="914400" rtl="1" eaLnBrk="1" latinLnBrk="0" hangingPunct="1">
              <a:lnSpc>
                <a:spcPct val="120000"/>
              </a:lnSpc>
              <a:spcBef>
                <a:spcPts val="1000"/>
              </a:spcBef>
              <a:buSzPct val="125000"/>
              <a:buFont typeface="Arial" panose="020B0604020202020204" pitchFamily="34" charset="0"/>
              <a:buAutoNum type="arabicPeriod"/>
            </a:pPr>
            <a:r>
              <a:rPr lang="ar-YE" dirty="0">
                <a:solidFill>
                  <a:schemeClr val="tx1"/>
                </a:solidFill>
              </a:rPr>
              <a:t>وليد الحربي</a:t>
            </a:r>
            <a:endParaRPr lang="en-US" dirty="0">
              <a:solidFill>
                <a:schemeClr val="tx1"/>
              </a:solidFill>
            </a:endParaRPr>
          </a:p>
          <a:p>
            <a:pPr marL="457200" indent="-457200" algn="r" defTabSz="914400" rtl="1" eaLnBrk="1" latinLnBrk="0" hangingPunct="1">
              <a:lnSpc>
                <a:spcPct val="120000"/>
              </a:lnSpc>
              <a:spcBef>
                <a:spcPts val="1000"/>
              </a:spcBef>
              <a:buSzPct val="125000"/>
              <a:buFont typeface="Arial" panose="020B0604020202020204" pitchFamily="34" charset="0"/>
              <a:buAutoNum type="arabicPeriod"/>
            </a:pPr>
            <a:r>
              <a:rPr lang="ar-YE" dirty="0">
                <a:solidFill>
                  <a:schemeClr val="tx1"/>
                </a:solidFill>
              </a:rPr>
              <a:t>عايض العوجان</a:t>
            </a:r>
          </a:p>
          <a:p>
            <a:pPr marL="457200" indent="-457200" algn="r" defTabSz="914400" rtl="1" eaLnBrk="1" latinLnBrk="0" hangingPunct="1">
              <a:lnSpc>
                <a:spcPct val="120000"/>
              </a:lnSpc>
              <a:spcBef>
                <a:spcPts val="1000"/>
              </a:spcBef>
              <a:buSzPct val="125000"/>
              <a:buFont typeface="Arial" panose="020B0604020202020204" pitchFamily="34" charset="0"/>
              <a:buAutoNum type="arabicPeriod"/>
            </a:pPr>
            <a:r>
              <a:rPr lang="ar-YE" dirty="0">
                <a:solidFill>
                  <a:schemeClr val="tx1"/>
                </a:solidFill>
              </a:rPr>
              <a:t>أسامة اليحيى</a:t>
            </a:r>
          </a:p>
          <a:p>
            <a:pPr marL="457200" indent="-457200" algn="r" defTabSz="914400" rtl="1" eaLnBrk="1" latinLnBrk="0" hangingPunct="1">
              <a:lnSpc>
                <a:spcPct val="120000"/>
              </a:lnSpc>
              <a:spcBef>
                <a:spcPts val="1000"/>
              </a:spcBef>
              <a:buSzPct val="125000"/>
              <a:buFont typeface="Arial" panose="020B0604020202020204" pitchFamily="34" charset="0"/>
              <a:buAutoNum type="arabicPeriod"/>
            </a:pPr>
            <a:r>
              <a:rPr lang="ar-YE" dirty="0">
                <a:solidFill>
                  <a:schemeClr val="tx1"/>
                </a:solidFill>
              </a:rPr>
              <a:t>عبدالله السندي</a:t>
            </a:r>
          </a:p>
          <a:p>
            <a:pPr marL="457200" indent="-457200" algn="r" defTabSz="914400" rtl="1" eaLnBrk="1" latinLnBrk="0" hangingPunct="1">
              <a:lnSpc>
                <a:spcPct val="120000"/>
              </a:lnSpc>
              <a:spcBef>
                <a:spcPts val="1000"/>
              </a:spcBef>
              <a:buSzPct val="125000"/>
              <a:buFont typeface="Arial" panose="020B0604020202020204" pitchFamily="34" charset="0"/>
              <a:buAutoNum type="arabicPeriod"/>
            </a:pPr>
            <a:r>
              <a:rPr lang="ar-YE" dirty="0">
                <a:solidFill>
                  <a:schemeClr val="tx1"/>
                </a:solidFill>
              </a:rPr>
              <a:t>عبدالله </a:t>
            </a:r>
            <a:r>
              <a:rPr lang="ar-YE" dirty="0" err="1">
                <a:solidFill>
                  <a:schemeClr val="tx1"/>
                </a:solidFill>
              </a:rPr>
              <a:t>الميمان</a:t>
            </a:r>
            <a:endParaRPr lang="ar-YE" dirty="0">
              <a:solidFill>
                <a:schemeClr val="tx1"/>
              </a:solidFill>
            </a:endParaRPr>
          </a:p>
          <a:p>
            <a:pPr marL="457200" indent="-457200" algn="r" defTabSz="914400" rtl="1" eaLnBrk="1" latinLnBrk="0" hangingPunct="1">
              <a:lnSpc>
                <a:spcPct val="120000"/>
              </a:lnSpc>
              <a:spcBef>
                <a:spcPts val="1000"/>
              </a:spcBef>
              <a:buSzPct val="125000"/>
              <a:buFont typeface="Arial" panose="020B0604020202020204" pitchFamily="34" charset="0"/>
              <a:buAutoNum type="arabicPeriod"/>
            </a:pPr>
            <a:endParaRPr lang="ar-YE" dirty="0">
              <a:solidFill>
                <a:schemeClr val="tx1"/>
              </a:solidFill>
            </a:endParaRPr>
          </a:p>
          <a:p>
            <a:pPr marL="457200" indent="-457200" algn="r" defTabSz="914400" rtl="1" eaLnBrk="1" latinLnBrk="0" hangingPunct="1">
              <a:lnSpc>
                <a:spcPct val="120000"/>
              </a:lnSpc>
              <a:spcBef>
                <a:spcPts val="1000"/>
              </a:spcBef>
              <a:buSzPct val="125000"/>
              <a:buFont typeface="Arial" panose="020B0604020202020204" pitchFamily="34" charset="0"/>
              <a:buAutoNum type="arabicPeriod"/>
            </a:pPr>
            <a:endParaRPr lang="ar-SA" dirty="0">
              <a:solidFill>
                <a:schemeClr val="tx1"/>
              </a:solidFill>
            </a:endParaRPr>
          </a:p>
          <a:p>
            <a:pPr marL="0" indent="0" algn="r" defTabSz="914400" rtl="1" eaLnBrk="1" latinLnBrk="0" hangingPunct="1">
              <a:lnSpc>
                <a:spcPct val="120000"/>
              </a:lnSpc>
              <a:spcBef>
                <a:spcPts val="1000"/>
              </a:spcBef>
              <a:buSzPct val="125000"/>
              <a:buFont typeface="Arial" panose="020B0604020202020204" pitchFamily="34" charset="0"/>
              <a:buNone/>
            </a:pPr>
            <a:endParaRPr lang="en-US" dirty="0">
              <a:solidFill>
                <a:schemeClr val="tx1"/>
              </a:solidFill>
            </a:endParaRPr>
          </a:p>
        </p:txBody>
      </p:sp>
      <p:sp>
        <p:nvSpPr>
          <p:cNvPr id="4" name="Subtitle 2">
            <a:extLst>
              <a:ext uri="{FF2B5EF4-FFF2-40B4-BE49-F238E27FC236}">
                <a16:creationId xmlns:a16="http://schemas.microsoft.com/office/drawing/2014/main" id="{A70781EB-AD5F-924D-B9ED-C7510137D4BB}"/>
              </a:ext>
            </a:extLst>
          </p:cNvPr>
          <p:cNvSpPr txBox="1">
            <a:spLocks/>
          </p:cNvSpPr>
          <p:nvPr/>
        </p:nvSpPr>
        <p:spPr>
          <a:xfrm>
            <a:off x="3214650" y="5089782"/>
            <a:ext cx="3495764" cy="953733"/>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tx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pPr algn="r" rtl="1"/>
            <a:r>
              <a:rPr lang="ar-SA" dirty="0"/>
              <a:t>اشراف الدكتور:</a:t>
            </a:r>
          </a:p>
          <a:p>
            <a:pPr algn="r" rtl="1"/>
            <a:r>
              <a:rPr lang="ar-YE" dirty="0"/>
              <a:t>عبدالله العجلان</a:t>
            </a:r>
            <a:endParaRPr lang="en-US" dirty="0"/>
          </a:p>
        </p:txBody>
      </p:sp>
      <p:sp>
        <p:nvSpPr>
          <p:cNvPr id="5" name="Title 1">
            <a:extLst>
              <a:ext uri="{FF2B5EF4-FFF2-40B4-BE49-F238E27FC236}">
                <a16:creationId xmlns:a16="http://schemas.microsoft.com/office/drawing/2014/main" id="{FFBEF371-3499-9944-89F3-F9568656F14A}"/>
              </a:ext>
            </a:extLst>
          </p:cNvPr>
          <p:cNvSpPr txBox="1">
            <a:spLocks/>
          </p:cNvSpPr>
          <p:nvPr/>
        </p:nvSpPr>
        <p:spPr>
          <a:xfrm>
            <a:off x="1700211" y="5358266"/>
            <a:ext cx="8791575" cy="1338263"/>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ar-SA" sz="2400" b="1" dirty="0"/>
              <a:t>هندسة أنظمة الشبكات التطبيقية</a:t>
            </a:r>
            <a:endParaRPr lang="en-US" sz="2400" b="1" dirty="0"/>
          </a:p>
        </p:txBody>
      </p:sp>
      <p:pic>
        <p:nvPicPr>
          <p:cNvPr id="9" name="Picture 8" descr="A black and white logo&#10;&#10;Description automatically generated">
            <a:extLst>
              <a:ext uri="{FF2B5EF4-FFF2-40B4-BE49-F238E27FC236}">
                <a16:creationId xmlns:a16="http://schemas.microsoft.com/office/drawing/2014/main" id="{DD037B5E-6326-CE56-7348-E0F17B88FF4F}"/>
              </a:ext>
            </a:extLst>
          </p:cNvPr>
          <p:cNvPicPr>
            <a:picLocks noChangeAspect="1"/>
          </p:cNvPicPr>
          <p:nvPr/>
        </p:nvPicPr>
        <p:blipFill>
          <a:blip r:embed="rId2"/>
          <a:stretch>
            <a:fillRect/>
          </a:stretch>
        </p:blipFill>
        <p:spPr>
          <a:xfrm>
            <a:off x="697134" y="268418"/>
            <a:ext cx="2394245" cy="585468"/>
          </a:xfrm>
          <a:prstGeom prst="rect">
            <a:avLst/>
          </a:prstGeom>
        </p:spPr>
      </p:pic>
      <p:sp>
        <p:nvSpPr>
          <p:cNvPr id="7" name="Rectangle 1">
            <a:extLst>
              <a:ext uri="{FF2B5EF4-FFF2-40B4-BE49-F238E27FC236}">
                <a16:creationId xmlns:a16="http://schemas.microsoft.com/office/drawing/2014/main" id="{712CD999-3A6D-D757-FFA7-E5A7D87DF03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a:ln>
                  <a:noFill/>
                </a:ln>
                <a:solidFill>
                  <a:schemeClr val="tx1"/>
                </a:solidFill>
                <a:effectLst/>
                <a:latin typeface="Arial" panose="020B0604020202020204" pitchFamily="34" charset="0"/>
                <a:cs typeface="Arial" panose="020B0604020202020204" pitchFamily="34" charset="0"/>
              </a:rPr>
              <a:t>عبدالله الكنعان</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896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F0EDB-A185-AD4C-90C2-165338413BB9}"/>
              </a:ext>
            </a:extLst>
          </p:cNvPr>
          <p:cNvSpPr>
            <a:spLocks noGrp="1"/>
          </p:cNvSpPr>
          <p:nvPr>
            <p:ph type="title"/>
          </p:nvPr>
        </p:nvSpPr>
        <p:spPr>
          <a:xfrm>
            <a:off x="1141412" y="0"/>
            <a:ext cx="9905998" cy="849086"/>
          </a:xfrm>
        </p:spPr>
        <p:txBody>
          <a:bodyPr>
            <a:normAutofit/>
          </a:bodyPr>
          <a:lstStyle/>
          <a:p>
            <a:pPr algn="ctr"/>
            <a:r>
              <a:rPr lang="ar-SA" sz="4400" dirty="0"/>
              <a:t>فهرس</a:t>
            </a:r>
            <a:endParaRPr lang="en-US" sz="4400" dirty="0"/>
          </a:p>
        </p:txBody>
      </p:sp>
      <p:sp>
        <p:nvSpPr>
          <p:cNvPr id="3" name="Content Placeholder 2">
            <a:extLst>
              <a:ext uri="{FF2B5EF4-FFF2-40B4-BE49-F238E27FC236}">
                <a16:creationId xmlns:a16="http://schemas.microsoft.com/office/drawing/2014/main" id="{C9B54F68-152C-D349-90B6-20325BCF460A}"/>
              </a:ext>
            </a:extLst>
          </p:cNvPr>
          <p:cNvSpPr>
            <a:spLocks noGrp="1"/>
          </p:cNvSpPr>
          <p:nvPr>
            <p:ph idx="1"/>
          </p:nvPr>
        </p:nvSpPr>
        <p:spPr>
          <a:xfrm>
            <a:off x="1143001" y="963386"/>
            <a:ext cx="7543800" cy="5470071"/>
          </a:xfrm>
        </p:spPr>
        <p:txBody>
          <a:bodyPr>
            <a:normAutofit fontScale="92500" lnSpcReduction="10000"/>
          </a:bodyPr>
          <a:lstStyle/>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الفهرس.</a:t>
            </a:r>
          </a:p>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المقدمة.</a:t>
            </a:r>
          </a:p>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اهداف المشروع.</a:t>
            </a:r>
          </a:p>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تصميم المشروع.</a:t>
            </a:r>
          </a:p>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ال</a:t>
            </a:r>
            <a:r>
              <a:rPr lang="en-US" dirty="0"/>
              <a:t>GPIO </a:t>
            </a:r>
            <a:r>
              <a:rPr lang="ar-SA" dirty="0"/>
              <a:t> المستخدمة.</a:t>
            </a:r>
          </a:p>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الأدوات المستخدمة.</a:t>
            </a:r>
          </a:p>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تعريف الأدوات.</a:t>
            </a:r>
          </a:p>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صورة العملي.</a:t>
            </a:r>
          </a:p>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طريقة التوصيل.</a:t>
            </a:r>
          </a:p>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نتائج المشروع.</a:t>
            </a:r>
          </a:p>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الخلاصة.</a:t>
            </a:r>
          </a:p>
          <a:p>
            <a:pPr marL="228600" indent="-228600" algn="r" defTabSz="914400" rtl="1" eaLnBrk="1" latinLnBrk="0" hangingPunct="1">
              <a:lnSpc>
                <a:spcPct val="120000"/>
              </a:lnSpc>
              <a:spcBef>
                <a:spcPts val="1000"/>
              </a:spcBef>
              <a:buSzPct val="125000"/>
              <a:buFont typeface="Arial" panose="020B0604020202020204" pitchFamily="34" charset="0"/>
              <a:buChar char="•"/>
            </a:pPr>
            <a:r>
              <a:rPr lang="ar-SA" dirty="0"/>
              <a:t>الخاتمة.</a:t>
            </a:r>
          </a:p>
        </p:txBody>
      </p:sp>
    </p:spTree>
    <p:extLst>
      <p:ext uri="{BB962C8B-B14F-4D97-AF65-F5344CB8AC3E}">
        <p14:creationId xmlns:p14="http://schemas.microsoft.com/office/powerpoint/2010/main" val="1271304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38E51-E683-FB49-BCAC-E4DF57BADFD6}"/>
              </a:ext>
            </a:extLst>
          </p:cNvPr>
          <p:cNvSpPr>
            <a:spLocks noGrp="1"/>
          </p:cNvSpPr>
          <p:nvPr>
            <p:ph type="title"/>
          </p:nvPr>
        </p:nvSpPr>
        <p:spPr/>
        <p:txBody>
          <a:bodyPr/>
          <a:lstStyle/>
          <a:p>
            <a:pPr algn="ctr" defTabSz="914400" rtl="1" eaLnBrk="1" latinLnBrk="0" hangingPunct="1">
              <a:lnSpc>
                <a:spcPct val="90000"/>
              </a:lnSpc>
              <a:spcBef>
                <a:spcPct val="0"/>
              </a:spcBef>
              <a:buNone/>
            </a:pPr>
            <a:r>
              <a:rPr lang="ar-SA" sz="4800" dirty="0"/>
              <a:t>اهداء</a:t>
            </a:r>
            <a:r>
              <a:rPr lang="ar-SA" dirty="0"/>
              <a:t> </a:t>
            </a:r>
            <a:endParaRPr lang="en-US" dirty="0"/>
          </a:p>
        </p:txBody>
      </p:sp>
      <p:sp>
        <p:nvSpPr>
          <p:cNvPr id="3" name="Content Placeholder 2">
            <a:extLst>
              <a:ext uri="{FF2B5EF4-FFF2-40B4-BE49-F238E27FC236}">
                <a16:creationId xmlns:a16="http://schemas.microsoft.com/office/drawing/2014/main" id="{2FDCE8F4-9599-F84F-8154-DF477ABB35F1}"/>
              </a:ext>
            </a:extLst>
          </p:cNvPr>
          <p:cNvSpPr>
            <a:spLocks noGrp="1"/>
          </p:cNvSpPr>
          <p:nvPr>
            <p:ph idx="1"/>
          </p:nvPr>
        </p:nvSpPr>
        <p:spPr/>
        <p:txBody>
          <a:bodyPr/>
          <a:lstStyle/>
          <a:p>
            <a:pPr marL="0" indent="0" algn="r">
              <a:buNone/>
            </a:pPr>
            <a:r>
              <a:rPr lang="ar-SA" dirty="0"/>
              <a:t>أود أن أهدي هذا البحث لوالديّ العزيزين اللذين قدما لي كل الدعم والتشجيع طوال مسيرتي الدراسية. لقد كانوا دائمًا مصدر إلهامي وتحفيزي للاستمرار في السعي نحو تحقيق أهدافي. كما أود أن أعبر عن امتناني العميق للدكتور [اسم الدكتور] على توجيهاته القيمة ودعمه المستمر لي خلال إعداد هذا البحث. لقد ساعدني برؤيته الواسعة ومعرفته العميقة في هذا المجال. هذا الإنجاز ما هو إلا نتيجة لجهودهم جميعًا، وأتمنى أن أكون دائمًا عند حسن ظنهم.</a:t>
            </a:r>
          </a:p>
          <a:p>
            <a:endParaRPr lang="ar-SA" dirty="0"/>
          </a:p>
          <a:p>
            <a:endParaRPr lang="ar-SA" dirty="0"/>
          </a:p>
          <a:p>
            <a:endParaRPr lang="ar-SA" dirty="0"/>
          </a:p>
          <a:p>
            <a:endParaRPr lang="ar-SA" dirty="0"/>
          </a:p>
          <a:p>
            <a:endParaRPr lang="ar-SA" dirty="0"/>
          </a:p>
          <a:p>
            <a:endParaRPr lang="ar-SA" dirty="0"/>
          </a:p>
          <a:p>
            <a:pPr marL="228600" indent="-228600" algn="l" defTabSz="914400" rtl="0" eaLnBrk="1" latinLnBrk="0" hangingPunct="1">
              <a:lnSpc>
                <a:spcPct val="120000"/>
              </a:lnSpc>
              <a:spcBef>
                <a:spcPts val="1000"/>
              </a:spcBef>
              <a:buSzPct val="125000"/>
              <a:buFont typeface="Arial" panose="020B0604020202020204" pitchFamily="34" charset="0"/>
              <a:buChar char="•"/>
            </a:pPr>
            <a:endParaRPr lang="en-US" dirty="0"/>
          </a:p>
        </p:txBody>
      </p:sp>
    </p:spTree>
    <p:extLst>
      <p:ext uri="{BB962C8B-B14F-4D97-AF65-F5344CB8AC3E}">
        <p14:creationId xmlns:p14="http://schemas.microsoft.com/office/powerpoint/2010/main" val="636296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38E51-E683-FB49-BCAC-E4DF57BADFD6}"/>
              </a:ext>
            </a:extLst>
          </p:cNvPr>
          <p:cNvSpPr>
            <a:spLocks noGrp="1"/>
          </p:cNvSpPr>
          <p:nvPr>
            <p:ph type="title"/>
          </p:nvPr>
        </p:nvSpPr>
        <p:spPr/>
        <p:txBody>
          <a:bodyPr/>
          <a:lstStyle/>
          <a:p>
            <a:pPr algn="ctr" defTabSz="914400" rtl="0" eaLnBrk="1" latinLnBrk="0" hangingPunct="1">
              <a:lnSpc>
                <a:spcPct val="90000"/>
              </a:lnSpc>
              <a:spcBef>
                <a:spcPct val="0"/>
              </a:spcBef>
              <a:buNone/>
            </a:pPr>
            <a:r>
              <a:rPr lang="ar-SA" sz="4800" dirty="0"/>
              <a:t>المقدمة</a:t>
            </a:r>
            <a:endParaRPr lang="en-US" dirty="0"/>
          </a:p>
        </p:txBody>
      </p:sp>
      <p:sp>
        <p:nvSpPr>
          <p:cNvPr id="3" name="Content Placeholder 2">
            <a:extLst>
              <a:ext uri="{FF2B5EF4-FFF2-40B4-BE49-F238E27FC236}">
                <a16:creationId xmlns:a16="http://schemas.microsoft.com/office/drawing/2014/main" id="{2FDCE8F4-9599-F84F-8154-DF477ABB35F1}"/>
              </a:ext>
            </a:extLst>
          </p:cNvPr>
          <p:cNvSpPr>
            <a:spLocks noGrp="1"/>
          </p:cNvSpPr>
          <p:nvPr>
            <p:ph idx="1"/>
          </p:nvPr>
        </p:nvSpPr>
        <p:spPr/>
        <p:txBody>
          <a:bodyPr/>
          <a:lstStyle/>
          <a:p>
            <a:pPr algn="r" rtl="1"/>
            <a:r>
              <a:rPr lang="ar-SA" dirty="0"/>
              <a:t>تعد النباتات من أهم الكائنات التي تعتمد عليها الحياة البشرية، سواء من ناحية الغذاء أو البيئة. مع زيادة الاعتماد على التكنولوجيا، أصبح من الممكن تسخير التقنيات الحديثة في تحسين طرق العناية بالنباتات، خاصة في البيئات المنزلية أو الصناعية. يهدف هذا المشروع إلى تطوير نظام "النبتة الذكية" الذي يمكن من مراقبة الظروف البيئية للنباتات والتحكم فيها تلقائيًا باستخدام مستشعرات وأدوات إلكترونية مثل </a:t>
            </a:r>
            <a:r>
              <a:rPr lang="en-PH" dirty="0"/>
              <a:t>Arduino </a:t>
            </a:r>
            <a:r>
              <a:rPr lang="ar-SA" dirty="0"/>
              <a:t>و</a:t>
            </a:r>
            <a:r>
              <a:rPr lang="en-PH" dirty="0"/>
              <a:t>ESP8266. </a:t>
            </a:r>
            <a:r>
              <a:rPr lang="ar-SA" dirty="0"/>
              <a:t>يتيح هذا النظام للمستخدمين متابعة حالة النباتات عن بُعد عبر تطبيق متصل بالنظام، مما يجعل من السهل الاعتناء بها دون الحاجة إلى التدخل اليدوي المستمر.</a:t>
            </a:r>
          </a:p>
          <a:p>
            <a:endParaRPr lang="ar-SA" dirty="0"/>
          </a:p>
          <a:p>
            <a:endParaRPr lang="ar-SA" dirty="0"/>
          </a:p>
          <a:p>
            <a:endParaRPr lang="ar-SA" dirty="0"/>
          </a:p>
          <a:p>
            <a:endParaRPr lang="ar-SA" dirty="0"/>
          </a:p>
          <a:p>
            <a:endParaRPr lang="ar-SA" dirty="0"/>
          </a:p>
          <a:p>
            <a:pPr marL="228600" indent="-228600" algn="l" defTabSz="914400" rtl="0" eaLnBrk="1" latinLnBrk="0" hangingPunct="1">
              <a:lnSpc>
                <a:spcPct val="120000"/>
              </a:lnSpc>
              <a:spcBef>
                <a:spcPts val="1000"/>
              </a:spcBef>
              <a:buSzPct val="125000"/>
              <a:buFont typeface="Arial" panose="020B0604020202020204" pitchFamily="34" charset="0"/>
              <a:buChar char="•"/>
            </a:pPr>
            <a:endParaRPr lang="en-US" dirty="0"/>
          </a:p>
        </p:txBody>
      </p:sp>
    </p:spTree>
    <p:extLst>
      <p:ext uri="{BB962C8B-B14F-4D97-AF65-F5344CB8AC3E}">
        <p14:creationId xmlns:p14="http://schemas.microsoft.com/office/powerpoint/2010/main" val="4081219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38E51-E683-FB49-BCAC-E4DF57BADFD6}"/>
              </a:ext>
            </a:extLst>
          </p:cNvPr>
          <p:cNvSpPr>
            <a:spLocks noGrp="1"/>
          </p:cNvSpPr>
          <p:nvPr>
            <p:ph type="title"/>
          </p:nvPr>
        </p:nvSpPr>
        <p:spPr/>
        <p:txBody>
          <a:bodyPr/>
          <a:lstStyle/>
          <a:p>
            <a:pPr algn="ctr" defTabSz="914400" rtl="1" eaLnBrk="1" latinLnBrk="0" hangingPunct="1">
              <a:lnSpc>
                <a:spcPct val="90000"/>
              </a:lnSpc>
              <a:spcBef>
                <a:spcPct val="0"/>
              </a:spcBef>
              <a:buNone/>
            </a:pPr>
            <a:r>
              <a:rPr lang="ar-YE" sz="4800" dirty="0"/>
              <a:t>اهداف المشروع</a:t>
            </a:r>
            <a:endParaRPr lang="en-US" dirty="0"/>
          </a:p>
        </p:txBody>
      </p:sp>
      <p:sp>
        <p:nvSpPr>
          <p:cNvPr id="3" name="Content Placeholder 2">
            <a:extLst>
              <a:ext uri="{FF2B5EF4-FFF2-40B4-BE49-F238E27FC236}">
                <a16:creationId xmlns:a16="http://schemas.microsoft.com/office/drawing/2014/main" id="{2FDCE8F4-9599-F84F-8154-DF477ABB35F1}"/>
              </a:ext>
            </a:extLst>
          </p:cNvPr>
          <p:cNvSpPr>
            <a:spLocks noGrp="1"/>
          </p:cNvSpPr>
          <p:nvPr>
            <p:ph idx="1"/>
          </p:nvPr>
        </p:nvSpPr>
        <p:spPr/>
        <p:txBody>
          <a:bodyPr/>
          <a:lstStyle/>
          <a:p>
            <a:pPr algn="r" rtl="1">
              <a:lnSpc>
                <a:spcPct val="150000"/>
              </a:lnSpc>
            </a:pPr>
            <a:r>
              <a:rPr lang="ar-SA" b="1" dirty="0"/>
              <a:t>تحسين كفاءة استخدام المياه</a:t>
            </a:r>
            <a:r>
              <a:rPr lang="ar-YE" b="1" dirty="0"/>
              <a:t>.</a:t>
            </a:r>
          </a:p>
          <a:p>
            <a:pPr algn="r" rtl="1">
              <a:lnSpc>
                <a:spcPct val="150000"/>
              </a:lnSpc>
            </a:pPr>
            <a:r>
              <a:rPr lang="ar-SA" b="1" dirty="0"/>
              <a:t>تعزيز الإنتاجية الزراعية</a:t>
            </a:r>
            <a:r>
              <a:rPr lang="ar-YE" b="1" dirty="0"/>
              <a:t>.</a:t>
            </a:r>
          </a:p>
          <a:p>
            <a:pPr algn="r" rtl="1">
              <a:lnSpc>
                <a:spcPct val="150000"/>
              </a:lnSpc>
            </a:pPr>
            <a:r>
              <a:rPr lang="ar-SA" b="1" dirty="0"/>
              <a:t>تقليل التكاليف التشغيلية</a:t>
            </a:r>
            <a:r>
              <a:rPr lang="ar-YE" b="1" dirty="0"/>
              <a:t>.</a:t>
            </a:r>
          </a:p>
          <a:p>
            <a:pPr algn="r" rtl="1">
              <a:lnSpc>
                <a:spcPct val="150000"/>
              </a:lnSpc>
            </a:pPr>
            <a:r>
              <a:rPr lang="ar-SA" b="1" dirty="0"/>
              <a:t>دعم الاستدامة البيئية</a:t>
            </a:r>
            <a:r>
              <a:rPr lang="ar-YE" b="1" dirty="0"/>
              <a:t>.</a:t>
            </a:r>
          </a:p>
          <a:p>
            <a:pPr algn="r" rtl="1">
              <a:lnSpc>
                <a:spcPct val="150000"/>
              </a:lnSpc>
            </a:pPr>
            <a:r>
              <a:rPr lang="ar-SA" b="1" dirty="0"/>
              <a:t>تسهيل عملية الري</a:t>
            </a:r>
            <a:r>
              <a:rPr lang="ar-YE" b="1" dirty="0"/>
              <a:t>.</a:t>
            </a:r>
          </a:p>
          <a:p>
            <a:pPr algn="r" rtl="1">
              <a:lnSpc>
                <a:spcPct val="150000"/>
              </a:lnSpc>
            </a:pPr>
            <a:r>
              <a:rPr lang="ar-SA" b="1" dirty="0"/>
              <a:t>تشجيع استخدام التكنولوجيا في الزراعة</a:t>
            </a:r>
            <a:r>
              <a:rPr lang="ar-YE" b="1" dirty="0"/>
              <a:t>.</a:t>
            </a:r>
            <a:endParaRPr lang="ar-SA" dirty="0"/>
          </a:p>
          <a:p>
            <a:endParaRPr lang="ar-SA" dirty="0"/>
          </a:p>
          <a:p>
            <a:endParaRPr lang="ar-SA" dirty="0"/>
          </a:p>
          <a:p>
            <a:endParaRPr lang="ar-SA" dirty="0"/>
          </a:p>
          <a:p>
            <a:pPr marL="228600" indent="-228600" algn="l" defTabSz="914400" rtl="0" eaLnBrk="1" latinLnBrk="0" hangingPunct="1">
              <a:lnSpc>
                <a:spcPct val="120000"/>
              </a:lnSpc>
              <a:spcBef>
                <a:spcPts val="1000"/>
              </a:spcBef>
              <a:buSzPct val="125000"/>
              <a:buFont typeface="Arial" panose="020B0604020202020204" pitchFamily="34" charset="0"/>
              <a:buChar char="•"/>
            </a:pPr>
            <a:endParaRPr lang="en-US" dirty="0"/>
          </a:p>
        </p:txBody>
      </p:sp>
    </p:spTree>
    <p:extLst>
      <p:ext uri="{BB962C8B-B14F-4D97-AF65-F5344CB8AC3E}">
        <p14:creationId xmlns:p14="http://schemas.microsoft.com/office/powerpoint/2010/main" val="3397821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85108-ECD1-7B7B-BC77-878008510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84376-605B-A889-C9E4-406FD51D7148}"/>
              </a:ext>
            </a:extLst>
          </p:cNvPr>
          <p:cNvSpPr>
            <a:spLocks noGrp="1"/>
          </p:cNvSpPr>
          <p:nvPr>
            <p:ph type="title"/>
          </p:nvPr>
        </p:nvSpPr>
        <p:spPr/>
        <p:txBody>
          <a:bodyPr/>
          <a:lstStyle/>
          <a:p>
            <a:pPr algn="ctr" defTabSz="914400" rtl="1" eaLnBrk="1" latinLnBrk="0" hangingPunct="1">
              <a:lnSpc>
                <a:spcPct val="90000"/>
              </a:lnSpc>
              <a:spcBef>
                <a:spcPct val="0"/>
              </a:spcBef>
              <a:buNone/>
            </a:pPr>
            <a:r>
              <a:rPr lang="ar-SA" sz="4800" dirty="0"/>
              <a:t>نبذة عن المشروع</a:t>
            </a:r>
            <a:endParaRPr lang="en-US" dirty="0"/>
          </a:p>
        </p:txBody>
      </p:sp>
      <p:sp>
        <p:nvSpPr>
          <p:cNvPr id="3" name="Content Placeholder 2">
            <a:extLst>
              <a:ext uri="{FF2B5EF4-FFF2-40B4-BE49-F238E27FC236}">
                <a16:creationId xmlns:a16="http://schemas.microsoft.com/office/drawing/2014/main" id="{FC9EB7FD-D207-4980-2EFC-D2A20E117451}"/>
              </a:ext>
            </a:extLst>
          </p:cNvPr>
          <p:cNvSpPr>
            <a:spLocks noGrp="1"/>
          </p:cNvSpPr>
          <p:nvPr>
            <p:ph idx="1"/>
          </p:nvPr>
        </p:nvSpPr>
        <p:spPr/>
        <p:txBody>
          <a:bodyPr/>
          <a:lstStyle/>
          <a:p>
            <a:pPr algn="r" rtl="1">
              <a:lnSpc>
                <a:spcPct val="150000"/>
              </a:lnSpc>
            </a:pPr>
            <a:r>
              <a:rPr lang="ar-SA" dirty="0"/>
              <a:t>المشروع هو نظام ري ذكي يستخدم تقنيات </a:t>
            </a:r>
            <a:r>
              <a:rPr lang="en-US" dirty="0"/>
              <a:t>Firebase </a:t>
            </a:r>
            <a:r>
              <a:rPr lang="ar-SA" dirty="0"/>
              <a:t>و</a:t>
            </a:r>
            <a:r>
              <a:rPr lang="en-US" dirty="0"/>
              <a:t>Arduino ESP8266 </a:t>
            </a:r>
            <a:r>
              <a:rPr lang="ar-SA" dirty="0"/>
              <a:t>لجمع بيانات البيئة مثل درجة الحرارة، الرطوبة، ورطوبة التربة، والتحكم في تشغيل مضخة الماء بناءً على تلك البيانات. تم تطوير النظام باستخدام مشروع مفتوح المصدر متوفر على </a:t>
            </a:r>
            <a:r>
              <a:rPr lang="en-US" dirty="0"/>
              <a:t>.GitHub</a:t>
            </a:r>
            <a:endParaRPr lang="ar-SA" dirty="0"/>
          </a:p>
          <a:p>
            <a:endParaRPr lang="ar-SA" dirty="0"/>
          </a:p>
          <a:p>
            <a:r>
              <a:rPr lang="en-US" dirty="0"/>
              <a:t>Link : </a:t>
            </a:r>
            <a:r>
              <a:rPr lang="en-US" dirty="0">
                <a:hlinkClick r:id="rId2"/>
              </a:rPr>
              <a:t>https://github.com/Alhababi-Academy/simple_irrigation_system</a:t>
            </a:r>
            <a:br>
              <a:rPr lang="en-US" dirty="0"/>
            </a:br>
            <a:endParaRPr lang="ar-SA" dirty="0"/>
          </a:p>
          <a:p>
            <a:endParaRPr lang="ar-SA" dirty="0"/>
          </a:p>
          <a:p>
            <a:pPr marL="228600" indent="-228600" algn="l" defTabSz="914400" rtl="0" eaLnBrk="1" latinLnBrk="0" hangingPunct="1">
              <a:lnSpc>
                <a:spcPct val="120000"/>
              </a:lnSpc>
              <a:spcBef>
                <a:spcPts val="1000"/>
              </a:spcBef>
              <a:buSzPct val="125000"/>
              <a:buFont typeface="Arial" panose="020B0604020202020204" pitchFamily="34" charset="0"/>
              <a:buChar char="•"/>
            </a:pPr>
            <a:endParaRPr lang="en-US" dirty="0"/>
          </a:p>
        </p:txBody>
      </p:sp>
    </p:spTree>
    <p:extLst>
      <p:ext uri="{BB962C8B-B14F-4D97-AF65-F5344CB8AC3E}">
        <p14:creationId xmlns:p14="http://schemas.microsoft.com/office/powerpoint/2010/main" val="3895444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E65F8-A75B-1210-5503-3EC8FB51E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80D8C-399F-3A90-919C-C78092AE36E6}"/>
              </a:ext>
            </a:extLst>
          </p:cNvPr>
          <p:cNvSpPr>
            <a:spLocks noGrp="1"/>
          </p:cNvSpPr>
          <p:nvPr>
            <p:ph type="title"/>
          </p:nvPr>
        </p:nvSpPr>
        <p:spPr/>
        <p:txBody>
          <a:bodyPr/>
          <a:lstStyle/>
          <a:p>
            <a:pPr algn="ctr" defTabSz="914400" rtl="1" eaLnBrk="1" latinLnBrk="0" hangingPunct="1">
              <a:lnSpc>
                <a:spcPct val="90000"/>
              </a:lnSpc>
              <a:spcBef>
                <a:spcPct val="0"/>
              </a:spcBef>
              <a:buNone/>
            </a:pPr>
            <a:r>
              <a:rPr lang="ar-SA" sz="4800" dirty="0"/>
              <a:t>تصميم المشروع</a:t>
            </a:r>
            <a:endParaRPr lang="en-US" dirty="0"/>
          </a:p>
        </p:txBody>
      </p:sp>
      <p:sp>
        <p:nvSpPr>
          <p:cNvPr id="3" name="Content Placeholder 2">
            <a:extLst>
              <a:ext uri="{FF2B5EF4-FFF2-40B4-BE49-F238E27FC236}">
                <a16:creationId xmlns:a16="http://schemas.microsoft.com/office/drawing/2014/main" id="{CF50F30B-192A-7346-34CB-A0B453AB2635}"/>
              </a:ext>
            </a:extLst>
          </p:cNvPr>
          <p:cNvSpPr>
            <a:spLocks noGrp="1"/>
          </p:cNvSpPr>
          <p:nvPr>
            <p:ph idx="1"/>
          </p:nvPr>
        </p:nvSpPr>
        <p:spPr/>
        <p:txBody>
          <a:bodyPr/>
          <a:lstStyle/>
          <a:p>
            <a:pPr algn="r" rtl="1">
              <a:lnSpc>
                <a:spcPct val="150000"/>
              </a:lnSpc>
            </a:pPr>
            <a:r>
              <a:rPr lang="ar-SA" dirty="0"/>
              <a:t>يعتمد تصميم مشروع "النبتة الذكية" على استخدام عدة مستشعرات وأجهزة للتحكم في بيئة النبات. تتضمن هذه المستشعرات مستشعر الرطوبة الذي يقيس مستوى الرطوبة في التربة، ومستشعر درجة الحرارة الذي يراقب الظروف الحرارية للنباتات. يتم توصيل هذه المستشعرات بوحدة التحكم (</a:t>
            </a:r>
            <a:r>
              <a:rPr lang="en-PH" dirty="0"/>
              <a:t>Arduino) </a:t>
            </a:r>
            <a:r>
              <a:rPr lang="ar-SA" dirty="0"/>
              <a:t>التي تقوم بمعالجة البيانات واتخاذ القرارات المناسبة مثل تشغيل مضخة المياه إذا كانت التربة جافة. يتم إرسال هذه البيانات أيضًا إلى تطبيق الهاتف المحمول عبر وحدة </a:t>
            </a:r>
            <a:r>
              <a:rPr lang="en-PH" dirty="0"/>
              <a:t>ESP8266، </a:t>
            </a:r>
            <a:r>
              <a:rPr lang="ar-SA" dirty="0"/>
              <a:t>مما يسمح للمستخدم بمراقبة حالة النبات من أي مكان.</a:t>
            </a:r>
          </a:p>
          <a:p>
            <a:endParaRPr lang="ar-SA" dirty="0"/>
          </a:p>
          <a:p>
            <a:endParaRPr lang="ar-SA" dirty="0"/>
          </a:p>
          <a:p>
            <a:endParaRPr lang="ar-SA" dirty="0"/>
          </a:p>
          <a:p>
            <a:endParaRPr lang="ar-SA" dirty="0"/>
          </a:p>
          <a:p>
            <a:pPr marL="228600" indent="-228600" algn="l" defTabSz="914400" rtl="0" eaLnBrk="1" latinLnBrk="0" hangingPunct="1">
              <a:lnSpc>
                <a:spcPct val="120000"/>
              </a:lnSpc>
              <a:spcBef>
                <a:spcPts val="1000"/>
              </a:spcBef>
              <a:buSzPct val="125000"/>
              <a:buFont typeface="Arial" panose="020B0604020202020204" pitchFamily="34" charset="0"/>
              <a:buChar char="•"/>
            </a:pPr>
            <a:endParaRPr lang="en-US" dirty="0"/>
          </a:p>
        </p:txBody>
      </p:sp>
    </p:spTree>
    <p:extLst>
      <p:ext uri="{BB962C8B-B14F-4D97-AF65-F5344CB8AC3E}">
        <p14:creationId xmlns:p14="http://schemas.microsoft.com/office/powerpoint/2010/main" val="1944127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1D224-0DC5-E714-DE7C-DBE920BAEB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EB9C7-D214-3147-0788-29C7C41E8FB1}"/>
              </a:ext>
            </a:extLst>
          </p:cNvPr>
          <p:cNvSpPr>
            <a:spLocks noGrp="1"/>
          </p:cNvSpPr>
          <p:nvPr>
            <p:ph type="title"/>
          </p:nvPr>
        </p:nvSpPr>
        <p:spPr>
          <a:xfrm>
            <a:off x="-349322" y="402404"/>
            <a:ext cx="9585789" cy="756863"/>
          </a:xfrm>
        </p:spPr>
        <p:txBody>
          <a:bodyPr>
            <a:normAutofit/>
          </a:bodyPr>
          <a:lstStyle/>
          <a:p>
            <a:pPr algn="r" rtl="1"/>
            <a:r>
              <a:rPr lang="ar-SA" sz="3200" b="1" dirty="0"/>
              <a:t>طريقة توصيل نظام الري باستخدام </a:t>
            </a:r>
            <a:r>
              <a:rPr lang="en-US" sz="3200" b="1" dirty="0"/>
              <a:t>Arduino:</a:t>
            </a:r>
            <a:endParaRPr lang="en-US" sz="3200" dirty="0"/>
          </a:p>
        </p:txBody>
      </p:sp>
      <p:sp>
        <p:nvSpPr>
          <p:cNvPr id="5" name="TextBox 4">
            <a:extLst>
              <a:ext uri="{FF2B5EF4-FFF2-40B4-BE49-F238E27FC236}">
                <a16:creationId xmlns:a16="http://schemas.microsoft.com/office/drawing/2014/main" id="{3143DF3D-6918-44F2-FB96-5FE8F504BB5A}"/>
              </a:ext>
            </a:extLst>
          </p:cNvPr>
          <p:cNvSpPr txBox="1"/>
          <p:nvPr/>
        </p:nvSpPr>
        <p:spPr>
          <a:xfrm>
            <a:off x="0" y="1331278"/>
            <a:ext cx="10037852" cy="4195444"/>
          </a:xfrm>
          <a:prstGeom prst="rect">
            <a:avLst/>
          </a:prstGeom>
          <a:noFill/>
        </p:spPr>
        <p:txBody>
          <a:bodyPr wrap="square" rtlCol="0">
            <a:spAutoFit/>
          </a:bodyPr>
          <a:lstStyle/>
          <a:p>
            <a:pPr marL="285750" indent="-285750" algn="r" rtl="1">
              <a:lnSpc>
                <a:spcPct val="150000"/>
              </a:lnSpc>
              <a:buFont typeface="Arial" panose="020B0604020202020204" pitchFamily="34" charset="0"/>
              <a:buChar char="•"/>
            </a:pPr>
            <a:r>
              <a:rPr lang="ar-SA" dirty="0"/>
              <a:t>قم بتوصيل</a:t>
            </a:r>
            <a:r>
              <a:rPr lang="en-US" dirty="0"/>
              <a:t>Arduino </a:t>
            </a:r>
            <a:r>
              <a:rPr lang="ar-YE" dirty="0"/>
              <a:t> </a:t>
            </a:r>
            <a:r>
              <a:rPr lang="ar-SA" dirty="0"/>
              <a:t>مع </a:t>
            </a:r>
            <a:r>
              <a:rPr lang="ar-SA" dirty="0" err="1"/>
              <a:t>البردبورد</a:t>
            </a:r>
            <a:r>
              <a:rPr lang="ar-SA" dirty="0"/>
              <a:t> لتثبيت المكونات بشكل مرتب.</a:t>
            </a:r>
            <a:endParaRPr lang="ar-YE" dirty="0"/>
          </a:p>
          <a:p>
            <a:pPr marL="285750" indent="-285750" algn="r" rtl="1">
              <a:lnSpc>
                <a:spcPct val="150000"/>
              </a:lnSpc>
              <a:buFont typeface="Arial" panose="020B0604020202020204" pitchFamily="34" charset="0"/>
              <a:buChar char="•"/>
            </a:pPr>
            <a:r>
              <a:rPr lang="ar-SA" dirty="0"/>
              <a:t>وصل مستشعر رطوبة التربة بأحد مداخل </a:t>
            </a:r>
            <a:r>
              <a:rPr lang="en-US" dirty="0"/>
              <a:t>Arduino </a:t>
            </a:r>
            <a:r>
              <a:rPr lang="ar-YE" dirty="0"/>
              <a:t> </a:t>
            </a:r>
            <a:r>
              <a:rPr lang="ar-SA" dirty="0"/>
              <a:t>التناظرية</a:t>
            </a:r>
            <a:r>
              <a:rPr lang="en-US" dirty="0"/>
              <a:t>Analog Pins </a:t>
            </a:r>
            <a:r>
              <a:rPr lang="ar-YE" dirty="0"/>
              <a:t> </a:t>
            </a:r>
            <a:r>
              <a:rPr lang="ar-SA" dirty="0"/>
              <a:t>عبر أسلاك التوصيل </a:t>
            </a:r>
            <a:r>
              <a:rPr lang="en-US" dirty="0"/>
              <a:t>Jumper </a:t>
            </a:r>
            <a:r>
              <a:rPr lang="ar-YE" dirty="0"/>
              <a:t>     </a:t>
            </a:r>
            <a:r>
              <a:rPr lang="en-US" dirty="0"/>
              <a:t>Wires</a:t>
            </a:r>
            <a:r>
              <a:rPr lang="ar-YE" dirty="0"/>
              <a:t> </a:t>
            </a:r>
            <a:r>
              <a:rPr lang="ar-SA" dirty="0"/>
              <a:t>لقياس مستوى الرطوبة.</a:t>
            </a:r>
            <a:endParaRPr lang="ar-YE" dirty="0"/>
          </a:p>
          <a:p>
            <a:pPr marL="285750" indent="-285750" algn="r" rtl="1">
              <a:lnSpc>
                <a:spcPct val="150000"/>
              </a:lnSpc>
              <a:buFont typeface="Arial" panose="020B0604020202020204" pitchFamily="34" charset="0"/>
              <a:buChar char="•"/>
            </a:pPr>
            <a:r>
              <a:rPr lang="ar-SA" dirty="0"/>
              <a:t>اربط </a:t>
            </a:r>
            <a:r>
              <a:rPr lang="ar-SA" dirty="0" err="1"/>
              <a:t>الريلاي</a:t>
            </a:r>
            <a:r>
              <a:rPr lang="ar-SA" dirty="0"/>
              <a:t> بأحد المخارج الرقمية </a:t>
            </a:r>
            <a:r>
              <a:rPr lang="en-US" dirty="0"/>
              <a:t>Digital Pins</a:t>
            </a:r>
            <a:r>
              <a:rPr lang="ar-YE" dirty="0"/>
              <a:t> </a:t>
            </a:r>
            <a:r>
              <a:rPr lang="ar-SA" dirty="0"/>
              <a:t>في </a:t>
            </a:r>
            <a:r>
              <a:rPr lang="en-US" dirty="0"/>
              <a:t>Arduino، </a:t>
            </a:r>
            <a:r>
              <a:rPr lang="ar-SA" dirty="0"/>
              <a:t>مع التأكد من توصيله بمضخة المياه.</a:t>
            </a:r>
            <a:endParaRPr lang="ar-YE" dirty="0"/>
          </a:p>
          <a:p>
            <a:pPr marL="285750" indent="-285750" algn="r" rtl="1">
              <a:lnSpc>
                <a:spcPct val="150000"/>
              </a:lnSpc>
              <a:buFont typeface="Arial" panose="020B0604020202020204" pitchFamily="34" charset="0"/>
              <a:buChar char="•"/>
            </a:pPr>
            <a:r>
              <a:rPr lang="ar-SA" dirty="0"/>
              <a:t>قم بتوصيل مضخة المياه مع </a:t>
            </a:r>
            <a:r>
              <a:rPr lang="ar-SA" dirty="0" err="1"/>
              <a:t>الريلاي</a:t>
            </a:r>
            <a:r>
              <a:rPr lang="ar-SA" dirty="0"/>
              <a:t> ووفر مصدر طاقة مناسب لها.</a:t>
            </a:r>
            <a:endParaRPr lang="ar-YE" dirty="0"/>
          </a:p>
          <a:p>
            <a:pPr marL="285750" indent="-285750" algn="r" rtl="1">
              <a:lnSpc>
                <a:spcPct val="150000"/>
              </a:lnSpc>
              <a:buFont typeface="Arial" panose="020B0604020202020204" pitchFamily="34" charset="0"/>
              <a:buChar char="•"/>
            </a:pPr>
            <a:r>
              <a:rPr lang="ar-SA" dirty="0"/>
              <a:t>وصل </a:t>
            </a:r>
            <a:r>
              <a:rPr lang="en-US" dirty="0"/>
              <a:t>DHT11</a:t>
            </a:r>
            <a:r>
              <a:rPr lang="ar-YE" dirty="0"/>
              <a:t> </a:t>
            </a:r>
            <a:r>
              <a:rPr lang="ar-SA" dirty="0"/>
              <a:t>بأحد المخارج الرقمية في</a:t>
            </a:r>
            <a:r>
              <a:rPr lang="en-US" dirty="0"/>
              <a:t>Arduino </a:t>
            </a:r>
            <a:r>
              <a:rPr lang="ar-YE" dirty="0"/>
              <a:t> </a:t>
            </a:r>
            <a:r>
              <a:rPr lang="ar-SA" dirty="0"/>
              <a:t>لقراءة درجة الحرارة والرطوبة المحيطة.</a:t>
            </a:r>
            <a:endParaRPr lang="ar-YE" dirty="0"/>
          </a:p>
          <a:p>
            <a:pPr marL="285750" indent="-285750" algn="r" rtl="1">
              <a:lnSpc>
                <a:spcPct val="150000"/>
              </a:lnSpc>
              <a:buFont typeface="Arial" panose="020B0604020202020204" pitchFamily="34" charset="0"/>
              <a:buChar char="•"/>
            </a:pPr>
            <a:r>
              <a:rPr lang="ar-SA" dirty="0"/>
              <a:t>اربط وحدة </a:t>
            </a:r>
            <a:r>
              <a:rPr lang="en-US" dirty="0"/>
              <a:t>ESP8266 </a:t>
            </a:r>
            <a:r>
              <a:rPr lang="ar-SA" dirty="0"/>
              <a:t>بـ </a:t>
            </a:r>
            <a:r>
              <a:rPr lang="en-US" dirty="0"/>
              <a:t>Arduino</a:t>
            </a:r>
            <a:r>
              <a:rPr lang="ar-YE" dirty="0"/>
              <a:t> </a:t>
            </a:r>
            <a:r>
              <a:rPr lang="ar-SA" dirty="0"/>
              <a:t>باستخدام المنافذ الرقمية أو منفذ</a:t>
            </a:r>
            <a:r>
              <a:rPr lang="en-US" dirty="0"/>
              <a:t>UART</a:t>
            </a:r>
            <a:r>
              <a:rPr lang="ar-YE" dirty="0"/>
              <a:t> </a:t>
            </a:r>
            <a:r>
              <a:rPr lang="en-US" dirty="0"/>
              <a:t> </a:t>
            </a:r>
            <a:r>
              <a:rPr lang="ar-SA" dirty="0"/>
              <a:t>لتفعيل الاتصال اللاسلكي.</a:t>
            </a:r>
            <a:endParaRPr lang="ar-YE" dirty="0"/>
          </a:p>
          <a:p>
            <a:pPr marL="285750" indent="-285750" algn="r" rtl="1">
              <a:lnSpc>
                <a:spcPct val="150000"/>
              </a:lnSpc>
              <a:buFont typeface="Arial" panose="020B0604020202020204" pitchFamily="34" charset="0"/>
              <a:buChar char="•"/>
            </a:pPr>
            <a:r>
              <a:rPr lang="ar-SA" dirty="0"/>
              <a:t>استخدم أسلاك التوصيل </a:t>
            </a:r>
            <a:r>
              <a:rPr lang="en-US" dirty="0"/>
              <a:t>Jumper Wires</a:t>
            </a:r>
            <a:r>
              <a:rPr lang="ar-YE" dirty="0"/>
              <a:t> </a:t>
            </a:r>
            <a:r>
              <a:rPr lang="ar-SA" dirty="0"/>
              <a:t>لتوصيل جميع الأجزاء </a:t>
            </a:r>
            <a:r>
              <a:rPr lang="ar-SA" dirty="0" err="1"/>
              <a:t>بالبردبورد</a:t>
            </a:r>
            <a:r>
              <a:rPr lang="ar-SA" dirty="0"/>
              <a:t> وتنظيمها لتسهيل العمل والتعديلات.</a:t>
            </a:r>
            <a:endParaRPr lang="ar-YE" dirty="0"/>
          </a:p>
          <a:p>
            <a:pPr marL="285750" indent="-285750" algn="r" rtl="1">
              <a:lnSpc>
                <a:spcPct val="150000"/>
              </a:lnSpc>
              <a:buFont typeface="Arial" panose="020B0604020202020204" pitchFamily="34" charset="0"/>
              <a:buChar char="•"/>
            </a:pPr>
            <a:r>
              <a:rPr lang="ar-SA" dirty="0"/>
              <a:t>تأكد من توصيل مصدر طاقة مناسب لتشغيل النظام بالكامل، مع مراعاة متطلبات الجهد لكل مكون.</a:t>
            </a:r>
            <a:endParaRPr lang="en-US" dirty="0"/>
          </a:p>
        </p:txBody>
      </p:sp>
    </p:spTree>
    <p:extLst>
      <p:ext uri="{BB962C8B-B14F-4D97-AF65-F5344CB8AC3E}">
        <p14:creationId xmlns:p14="http://schemas.microsoft.com/office/powerpoint/2010/main" val="3674707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38E51-E683-FB49-BCAC-E4DF57BADFD6}"/>
              </a:ext>
            </a:extLst>
          </p:cNvPr>
          <p:cNvSpPr>
            <a:spLocks noGrp="1"/>
          </p:cNvSpPr>
          <p:nvPr>
            <p:ph type="title"/>
          </p:nvPr>
        </p:nvSpPr>
        <p:spPr/>
        <p:txBody>
          <a:bodyPr/>
          <a:lstStyle/>
          <a:p>
            <a:pPr algn="ctr" rtl="1"/>
            <a:r>
              <a:rPr lang="en-PH" sz="4800" dirty="0"/>
              <a:t>GPIO</a:t>
            </a:r>
            <a:r>
              <a:rPr lang="ar-SA" sz="4800" dirty="0"/>
              <a:t> </a:t>
            </a:r>
            <a:r>
              <a:rPr lang="en-PH" sz="4800" dirty="0"/>
              <a:t> </a:t>
            </a:r>
            <a:r>
              <a:rPr lang="ar-SA" sz="4800" dirty="0"/>
              <a:t>المستخدم</a:t>
            </a:r>
          </a:p>
        </p:txBody>
      </p:sp>
      <p:sp>
        <p:nvSpPr>
          <p:cNvPr id="3" name="Content Placeholder 2">
            <a:extLst>
              <a:ext uri="{FF2B5EF4-FFF2-40B4-BE49-F238E27FC236}">
                <a16:creationId xmlns:a16="http://schemas.microsoft.com/office/drawing/2014/main" id="{2FDCE8F4-9599-F84F-8154-DF477ABB35F1}"/>
              </a:ext>
            </a:extLst>
          </p:cNvPr>
          <p:cNvSpPr>
            <a:spLocks noGrp="1"/>
          </p:cNvSpPr>
          <p:nvPr>
            <p:ph idx="1"/>
          </p:nvPr>
        </p:nvSpPr>
        <p:spPr/>
        <p:txBody>
          <a:bodyPr/>
          <a:lstStyle/>
          <a:p>
            <a:pPr algn="r" rtl="1"/>
            <a:r>
              <a:rPr lang="ar-SA" dirty="0"/>
              <a:t>تستخدم وحدة التحكم </a:t>
            </a:r>
            <a:r>
              <a:rPr lang="en-PH" dirty="0"/>
              <a:t>GPIO (General Purpose Input/Output) </a:t>
            </a:r>
            <a:r>
              <a:rPr lang="ar-SA" dirty="0"/>
              <a:t>لتوصيل المستشعرات والأدوات المختلفة. يتضمن ذلك توصيل مستشعر الرطوبة (</a:t>
            </a:r>
            <a:r>
              <a:rPr lang="en-PH" dirty="0"/>
              <a:t>Soil Moisture Sensor)، </a:t>
            </a:r>
            <a:r>
              <a:rPr lang="ar-SA" dirty="0"/>
              <a:t>ومستشعر درجة الحرارة (</a:t>
            </a:r>
            <a:r>
              <a:rPr lang="en-PH" dirty="0"/>
              <a:t>DHT11)، </a:t>
            </a:r>
            <a:r>
              <a:rPr lang="ar-SA" dirty="0"/>
              <a:t>بالإضافة إلى مضخة المياه، والتي يتم تشغيلها عند الحاجة لري النبات.</a:t>
            </a:r>
          </a:p>
          <a:p>
            <a:endParaRPr lang="ar-SA" dirty="0"/>
          </a:p>
          <a:p>
            <a:endParaRPr lang="ar-SA" dirty="0"/>
          </a:p>
          <a:p>
            <a:endParaRPr lang="ar-SA" dirty="0"/>
          </a:p>
          <a:p>
            <a:pPr marL="228600" indent="-228600" algn="l" defTabSz="914400" rtl="0" eaLnBrk="1" latinLnBrk="0" hangingPunct="1">
              <a:lnSpc>
                <a:spcPct val="120000"/>
              </a:lnSpc>
              <a:spcBef>
                <a:spcPts val="1000"/>
              </a:spcBef>
              <a:buSzPct val="125000"/>
              <a:buFont typeface="Arial" panose="020B0604020202020204" pitchFamily="34" charset="0"/>
              <a:buChar char="•"/>
            </a:pPr>
            <a:endParaRPr lang="en-US" dirty="0"/>
          </a:p>
        </p:txBody>
      </p:sp>
    </p:spTree>
    <p:extLst>
      <p:ext uri="{BB962C8B-B14F-4D97-AF65-F5344CB8AC3E}">
        <p14:creationId xmlns:p14="http://schemas.microsoft.com/office/powerpoint/2010/main" val="3439518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BD75D-7771-21C8-F045-5F7D95231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434BB-937F-1F71-68EC-25DEBF6BDDEE}"/>
              </a:ext>
            </a:extLst>
          </p:cNvPr>
          <p:cNvSpPr>
            <a:spLocks noGrp="1"/>
          </p:cNvSpPr>
          <p:nvPr>
            <p:ph type="title"/>
          </p:nvPr>
        </p:nvSpPr>
        <p:spPr/>
        <p:txBody>
          <a:bodyPr/>
          <a:lstStyle/>
          <a:p>
            <a:pPr algn="ctr" rtl="1"/>
            <a:r>
              <a:rPr lang="ar-SA" sz="4800" dirty="0"/>
              <a:t>المدخلات والمخرجات في المشروع</a:t>
            </a:r>
          </a:p>
        </p:txBody>
      </p:sp>
      <p:sp>
        <p:nvSpPr>
          <p:cNvPr id="3" name="Content Placeholder 2">
            <a:extLst>
              <a:ext uri="{FF2B5EF4-FFF2-40B4-BE49-F238E27FC236}">
                <a16:creationId xmlns:a16="http://schemas.microsoft.com/office/drawing/2014/main" id="{CFADED2D-A178-D9CE-B6BA-A261746AB7C7}"/>
              </a:ext>
            </a:extLst>
          </p:cNvPr>
          <p:cNvSpPr>
            <a:spLocks noGrp="1"/>
          </p:cNvSpPr>
          <p:nvPr>
            <p:ph idx="1"/>
          </p:nvPr>
        </p:nvSpPr>
        <p:spPr/>
        <p:txBody>
          <a:bodyPr/>
          <a:lstStyle/>
          <a:p>
            <a:pPr algn="r" rtl="1"/>
            <a:r>
              <a:rPr lang="ar-SA" sz="2400" b="1" dirty="0"/>
              <a:t>المدخلات:</a:t>
            </a:r>
          </a:p>
          <a:p>
            <a:pPr algn="r" rtl="1">
              <a:buFont typeface="+mj-lt"/>
              <a:buAutoNum type="arabicPeriod"/>
            </a:pPr>
            <a:r>
              <a:rPr lang="ar-SA" b="1" dirty="0"/>
              <a:t>المدخلات التناظرية </a:t>
            </a:r>
            <a:r>
              <a:rPr lang="en-US" b="1" dirty="0"/>
              <a:t>Analog Inputs</a:t>
            </a:r>
            <a:endParaRPr lang="en-US" dirty="0"/>
          </a:p>
          <a:p>
            <a:pPr marL="742950" lvl="1" indent="-285750" algn="r" rtl="1">
              <a:buFont typeface="+mj-lt"/>
              <a:buAutoNum type="arabicPeriod"/>
            </a:pPr>
            <a:r>
              <a:rPr lang="ar-SA" dirty="0"/>
              <a:t>حساسات رطوبة التربة التي تعطي قراءات تعتمد على مستوى الرطوبة.</a:t>
            </a:r>
          </a:p>
          <a:p>
            <a:pPr marL="742950" lvl="1" indent="-285750" algn="r" rtl="1">
              <a:buFont typeface="+mj-lt"/>
              <a:buAutoNum type="arabicPeriod"/>
            </a:pPr>
            <a:r>
              <a:rPr lang="ar-SA" dirty="0"/>
              <a:t>يتم توصيلها إلى المنفذ </a:t>
            </a:r>
            <a:r>
              <a:rPr lang="en-US" dirty="0"/>
              <a:t> </a:t>
            </a:r>
            <a:r>
              <a:rPr lang="en-US" b="1" dirty="0"/>
              <a:t>A0</a:t>
            </a:r>
            <a:r>
              <a:rPr lang="en-US" dirty="0"/>
              <a:t> </a:t>
            </a:r>
            <a:r>
              <a:rPr lang="ar-SA" dirty="0"/>
              <a:t>في </a:t>
            </a:r>
            <a:r>
              <a:rPr lang="en-US" dirty="0"/>
              <a:t>ESP8266</a:t>
            </a:r>
          </a:p>
          <a:p>
            <a:pPr algn="r" rtl="1">
              <a:buFont typeface="+mj-lt"/>
              <a:buAutoNum type="arabicPeriod"/>
            </a:pPr>
            <a:r>
              <a:rPr lang="ar-SA" b="1" dirty="0"/>
              <a:t>المدخلات الرقمية </a:t>
            </a:r>
            <a:r>
              <a:rPr lang="en-US" b="1" dirty="0"/>
              <a:t>Digital Inputs</a:t>
            </a:r>
            <a:endParaRPr lang="en-US" dirty="0"/>
          </a:p>
          <a:p>
            <a:pPr marL="742950" lvl="1" indent="-285750" algn="r" rtl="1">
              <a:buFont typeface="+mj-lt"/>
              <a:buAutoNum type="arabicPeriod"/>
            </a:pPr>
            <a:r>
              <a:rPr lang="ar-SA" dirty="0"/>
              <a:t>حساسات مثل </a:t>
            </a:r>
            <a:r>
              <a:rPr lang="en-US" dirty="0"/>
              <a:t> </a:t>
            </a:r>
            <a:r>
              <a:rPr lang="en-US" b="1" dirty="0"/>
              <a:t>DHT11</a:t>
            </a:r>
            <a:r>
              <a:rPr lang="en-US" dirty="0"/>
              <a:t> </a:t>
            </a:r>
            <a:r>
              <a:rPr lang="ar-SA" dirty="0"/>
              <a:t>التي تعطي بيانات رقمية.</a:t>
            </a:r>
          </a:p>
          <a:p>
            <a:pPr marL="742950" lvl="1" indent="-285750" algn="r" rtl="1">
              <a:buFont typeface="+mj-lt"/>
              <a:buAutoNum type="arabicPeriod"/>
            </a:pPr>
            <a:r>
              <a:rPr lang="ar-SA" dirty="0"/>
              <a:t>يتم توصيلها إلى المنافذ الرقمية مثل </a:t>
            </a:r>
            <a:r>
              <a:rPr lang="en-US" b="1" dirty="0"/>
              <a:t>D1</a:t>
            </a:r>
            <a:endParaRPr lang="en-US" dirty="0"/>
          </a:p>
          <a:p>
            <a:pPr algn="r" rtl="1"/>
            <a:endParaRPr lang="ar-SA" dirty="0"/>
          </a:p>
          <a:p>
            <a:pPr algn="r" rtl="1"/>
            <a:endParaRPr lang="ar-SA" dirty="0"/>
          </a:p>
          <a:p>
            <a:pPr algn="r" rtl="1"/>
            <a:endParaRPr lang="ar-SA" dirty="0"/>
          </a:p>
          <a:p>
            <a:pPr marL="228600" indent="-228600" algn="r" defTabSz="914400" rtl="1" eaLnBrk="1" latinLnBrk="0" hangingPunct="1">
              <a:lnSpc>
                <a:spcPct val="120000"/>
              </a:lnSpc>
              <a:spcBef>
                <a:spcPts val="1000"/>
              </a:spcBef>
              <a:buSzPct val="125000"/>
              <a:buFont typeface="Arial" panose="020B0604020202020204" pitchFamily="34" charset="0"/>
              <a:buChar char="•"/>
            </a:pPr>
            <a:endParaRPr lang="en-US" dirty="0"/>
          </a:p>
        </p:txBody>
      </p:sp>
    </p:spTree>
    <p:extLst>
      <p:ext uri="{BB962C8B-B14F-4D97-AF65-F5344CB8AC3E}">
        <p14:creationId xmlns:p14="http://schemas.microsoft.com/office/powerpoint/2010/main" val="4142867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FC501-9FAC-2664-1552-87F5BD789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7D40E-27A2-0EF4-648C-A8AB94BC0A7C}"/>
              </a:ext>
            </a:extLst>
          </p:cNvPr>
          <p:cNvSpPr>
            <a:spLocks noGrp="1"/>
          </p:cNvSpPr>
          <p:nvPr>
            <p:ph type="title"/>
          </p:nvPr>
        </p:nvSpPr>
        <p:spPr/>
        <p:txBody>
          <a:bodyPr/>
          <a:lstStyle/>
          <a:p>
            <a:pPr algn="ctr" rtl="1"/>
            <a:r>
              <a:rPr lang="ar-SA" sz="4800" dirty="0"/>
              <a:t>المدخلات والمخرجات في المشروع</a:t>
            </a:r>
          </a:p>
        </p:txBody>
      </p:sp>
      <p:sp>
        <p:nvSpPr>
          <p:cNvPr id="3" name="Content Placeholder 2">
            <a:extLst>
              <a:ext uri="{FF2B5EF4-FFF2-40B4-BE49-F238E27FC236}">
                <a16:creationId xmlns:a16="http://schemas.microsoft.com/office/drawing/2014/main" id="{AA39DF6B-BFA6-64D1-0822-58F8AC4618A4}"/>
              </a:ext>
            </a:extLst>
          </p:cNvPr>
          <p:cNvSpPr>
            <a:spLocks noGrp="1"/>
          </p:cNvSpPr>
          <p:nvPr>
            <p:ph idx="1"/>
          </p:nvPr>
        </p:nvSpPr>
        <p:spPr/>
        <p:txBody>
          <a:bodyPr/>
          <a:lstStyle/>
          <a:p>
            <a:pPr algn="r" rtl="1"/>
            <a:r>
              <a:rPr lang="ar-SA" sz="2400" b="1" dirty="0"/>
              <a:t>المخرجات:</a:t>
            </a:r>
          </a:p>
          <a:p>
            <a:pPr algn="r" rtl="1">
              <a:buFont typeface="+mj-lt"/>
              <a:buAutoNum type="arabicPeriod"/>
            </a:pPr>
            <a:r>
              <a:rPr lang="ar-SA" b="1" dirty="0"/>
              <a:t>المخرجات الرقمية </a:t>
            </a:r>
            <a:r>
              <a:rPr lang="en-US" b="1" dirty="0"/>
              <a:t>Digital Outputs</a:t>
            </a:r>
            <a:endParaRPr lang="en-US" dirty="0"/>
          </a:p>
          <a:p>
            <a:pPr marL="742950" lvl="1" indent="-285750" algn="r" rtl="1">
              <a:buFont typeface="+mj-lt"/>
              <a:buAutoNum type="arabicPeriod"/>
            </a:pPr>
            <a:r>
              <a:rPr lang="ar-SA" dirty="0"/>
              <a:t>التحكم في </a:t>
            </a:r>
            <a:r>
              <a:rPr lang="ar-SA" dirty="0" err="1"/>
              <a:t>الريلي</a:t>
            </a:r>
            <a:r>
              <a:rPr lang="ar-SA" dirty="0"/>
              <a:t> لتشغيل أو إيقاف المضخة.</a:t>
            </a:r>
          </a:p>
          <a:p>
            <a:pPr marL="742950" lvl="1" indent="-285750" algn="r" rtl="1">
              <a:buFont typeface="+mj-lt"/>
              <a:buAutoNum type="arabicPeriod"/>
            </a:pPr>
            <a:r>
              <a:rPr lang="ar-SA" dirty="0"/>
              <a:t>يتم استخدام المنفذ </a:t>
            </a:r>
            <a:r>
              <a:rPr lang="en-US" dirty="0"/>
              <a:t> </a:t>
            </a:r>
            <a:r>
              <a:rPr lang="en-US" b="1" dirty="0"/>
              <a:t>D3</a:t>
            </a:r>
            <a:r>
              <a:rPr lang="en-US" dirty="0"/>
              <a:t> </a:t>
            </a:r>
            <a:r>
              <a:rPr lang="ar-SA" dirty="0"/>
              <a:t>لإرسال إشارة تشغيل/إيقاف.</a:t>
            </a:r>
          </a:p>
          <a:p>
            <a:pPr algn="r" rtl="1">
              <a:buFont typeface="+mj-lt"/>
              <a:buAutoNum type="arabicPeriod"/>
            </a:pPr>
            <a:r>
              <a:rPr lang="ar-SA" b="1" dirty="0"/>
              <a:t>البيانات المرسلة إلى </a:t>
            </a:r>
            <a:r>
              <a:rPr lang="en-US" b="1" dirty="0"/>
              <a:t>Firebase:</a:t>
            </a:r>
            <a:endParaRPr lang="en-US" dirty="0"/>
          </a:p>
          <a:p>
            <a:pPr marL="742950" lvl="1" indent="-285750" algn="r" rtl="1">
              <a:buFont typeface="+mj-lt"/>
              <a:buAutoNum type="arabicPeriod"/>
            </a:pPr>
            <a:r>
              <a:rPr lang="ar-SA" dirty="0"/>
              <a:t>درجة الحرارة.</a:t>
            </a:r>
          </a:p>
          <a:p>
            <a:pPr marL="742950" lvl="1" indent="-285750" algn="r" rtl="1">
              <a:buFont typeface="+mj-lt"/>
              <a:buAutoNum type="arabicPeriod"/>
            </a:pPr>
            <a:r>
              <a:rPr lang="ar-SA" dirty="0"/>
              <a:t>الرطوبة.</a:t>
            </a:r>
          </a:p>
          <a:p>
            <a:pPr marL="742950" lvl="1" indent="-285750" algn="r" rtl="1">
              <a:buFont typeface="+mj-lt"/>
              <a:buAutoNum type="arabicPeriod"/>
            </a:pPr>
            <a:r>
              <a:rPr lang="ar-SA" dirty="0"/>
              <a:t>رطوبة التربة.</a:t>
            </a:r>
          </a:p>
          <a:p>
            <a:pPr marL="742950" lvl="1" indent="-285750" algn="r" rtl="1">
              <a:buFont typeface="+mj-lt"/>
              <a:buAutoNum type="arabicPeriod"/>
            </a:pPr>
            <a:r>
              <a:rPr lang="ar-SA" dirty="0"/>
              <a:t>حالة المضخة.</a:t>
            </a:r>
          </a:p>
          <a:p>
            <a:pPr marL="742950" lvl="1" indent="-285750" algn="r" rtl="1">
              <a:buFont typeface="+mj-lt"/>
              <a:buAutoNum type="arabicPeriod"/>
            </a:pPr>
            <a:r>
              <a:rPr lang="ar-SA" dirty="0"/>
              <a:t>إعدادات التحكم (يدوي أو تلقائي).</a:t>
            </a:r>
          </a:p>
        </p:txBody>
      </p:sp>
    </p:spTree>
    <p:extLst>
      <p:ext uri="{BB962C8B-B14F-4D97-AF65-F5344CB8AC3E}">
        <p14:creationId xmlns:p14="http://schemas.microsoft.com/office/powerpoint/2010/main" val="3967276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61B9E-5EF6-D011-2468-7D6FE7C6F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42EE4-3BF2-43ED-D971-5A60BC0528E8}"/>
              </a:ext>
            </a:extLst>
          </p:cNvPr>
          <p:cNvSpPr>
            <a:spLocks noGrp="1"/>
          </p:cNvSpPr>
          <p:nvPr>
            <p:ph type="title"/>
          </p:nvPr>
        </p:nvSpPr>
        <p:spPr>
          <a:xfrm>
            <a:off x="-503433" y="404117"/>
            <a:ext cx="9709079" cy="756863"/>
          </a:xfrm>
        </p:spPr>
        <p:txBody>
          <a:bodyPr>
            <a:normAutofit/>
          </a:bodyPr>
          <a:lstStyle/>
          <a:p>
            <a:pPr algn="r" rtl="1"/>
            <a:r>
              <a:rPr lang="ar-SA" sz="2800" b="1" dirty="0"/>
              <a:t>نتائج مشروع نظام الري الذكي باستخدام </a:t>
            </a:r>
            <a:r>
              <a:rPr lang="en-US" sz="2800" b="1" dirty="0"/>
              <a:t>Arduino:</a:t>
            </a:r>
            <a:endParaRPr lang="en-US" sz="2800" dirty="0"/>
          </a:p>
        </p:txBody>
      </p:sp>
      <p:sp>
        <p:nvSpPr>
          <p:cNvPr id="5" name="TextBox 4">
            <a:extLst>
              <a:ext uri="{FF2B5EF4-FFF2-40B4-BE49-F238E27FC236}">
                <a16:creationId xmlns:a16="http://schemas.microsoft.com/office/drawing/2014/main" id="{79E8F0A6-B5B0-80DB-3780-53E0C088243B}"/>
              </a:ext>
            </a:extLst>
          </p:cNvPr>
          <p:cNvSpPr txBox="1"/>
          <p:nvPr/>
        </p:nvSpPr>
        <p:spPr>
          <a:xfrm>
            <a:off x="0" y="1331278"/>
            <a:ext cx="9626885" cy="3779946"/>
          </a:xfrm>
          <a:prstGeom prst="rect">
            <a:avLst/>
          </a:prstGeom>
          <a:noFill/>
        </p:spPr>
        <p:txBody>
          <a:bodyPr wrap="square" rtlCol="0">
            <a:spAutoFit/>
          </a:bodyPr>
          <a:lstStyle/>
          <a:p>
            <a:pPr algn="r" rtl="1">
              <a:lnSpc>
                <a:spcPct val="150000"/>
              </a:lnSpc>
            </a:pPr>
            <a:r>
              <a:rPr lang="ar-SA" dirty="0"/>
              <a:t>تمكن المشروع من إنشاء نظام ري ذكي يعمل بكفاءة عالية، حيث يتم تشغيل مضخة المياه تلقائيًا وفقًا لقراءات مستشعر رطوبة التربة، مما أسهم في تحسين كفاءة استخدام المياه وتقليل الهدر مع ضمان ري التربة عند الحاجة فقط. إضافةً إلى ذلك، وفّر مستشعر </a:t>
            </a:r>
            <a:r>
              <a:rPr lang="en-US" dirty="0"/>
              <a:t>DHT11 </a:t>
            </a:r>
            <a:r>
              <a:rPr lang="ar-SA" dirty="0"/>
              <a:t>بيانات عن الظروف البيئية المحيطة مثل درجة الحرارة والرطوبة، مما يدعم تحسين إدارة الزراعة بفعالية. كما ساعدت وحدة </a:t>
            </a:r>
            <a:r>
              <a:rPr lang="en-US" dirty="0"/>
              <a:t>ESP8266 </a:t>
            </a:r>
            <a:r>
              <a:rPr lang="ar-SA" dirty="0"/>
              <a:t>في تمكين التحكم اللاسلكي ومراقبة النظام عن بُعد عبر شبكة </a:t>
            </a:r>
            <a:r>
              <a:rPr lang="en-US" dirty="0"/>
              <a:t>Wi-Fi </a:t>
            </a:r>
            <a:r>
              <a:rPr lang="ar-SA" dirty="0"/>
              <a:t>باستخدام الهاتف الذكي أو الحاسوب، ما أضاف مرونة وسهولة في الاستخدام. ساهم </a:t>
            </a:r>
            <a:r>
              <a:rPr lang="ar-SA" dirty="0" err="1"/>
              <a:t>الريلاي</a:t>
            </a:r>
            <a:r>
              <a:rPr lang="ar-SA" dirty="0"/>
              <a:t> في التحكم الدقيق بمضخة المياه، بينما سهّلت </a:t>
            </a:r>
            <a:r>
              <a:rPr lang="ar-SA" dirty="0" err="1"/>
              <a:t>البردبورد</a:t>
            </a:r>
            <a:r>
              <a:rPr lang="ar-SA" dirty="0"/>
              <a:t> عملية تنظيم التوصيلات وتجميع المكونات، مما جعل النظام مرنًا وقابلاً للتعديل. من خلال تكامل هذه المكونات، نجح المشروع في تحقيق أهدافه بأتمتة الري وتوفير الوقت والجهد، ليصبح حلاً عمليًا ومستدامًا يلائم احتياجات الزراعة الحديثة ويوفر الموارد بكفاءة عالية.</a:t>
            </a:r>
            <a:endParaRPr lang="en-US" dirty="0"/>
          </a:p>
        </p:txBody>
      </p:sp>
    </p:spTree>
    <p:extLst>
      <p:ext uri="{BB962C8B-B14F-4D97-AF65-F5344CB8AC3E}">
        <p14:creationId xmlns:p14="http://schemas.microsoft.com/office/powerpoint/2010/main" val="1716045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E3217-2026-3CB8-FE98-05BC8B0CF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8480E5-049D-4385-512A-176FDFE5DA58}"/>
              </a:ext>
            </a:extLst>
          </p:cNvPr>
          <p:cNvSpPr>
            <a:spLocks noGrp="1"/>
          </p:cNvSpPr>
          <p:nvPr>
            <p:ph type="title"/>
          </p:nvPr>
        </p:nvSpPr>
        <p:spPr>
          <a:xfrm>
            <a:off x="-904125" y="404117"/>
            <a:ext cx="10130318" cy="756863"/>
          </a:xfrm>
        </p:spPr>
        <p:txBody>
          <a:bodyPr>
            <a:normAutofit/>
          </a:bodyPr>
          <a:lstStyle/>
          <a:p>
            <a:pPr algn="r" rtl="1"/>
            <a:r>
              <a:rPr lang="ar-SA" sz="2400" b="1" dirty="0"/>
              <a:t>تحليل نتائج مشروع نظام الري الذكي باستخدام </a:t>
            </a:r>
            <a:r>
              <a:rPr lang="en-US" sz="2400" b="1" dirty="0"/>
              <a:t>Arduino:</a:t>
            </a:r>
            <a:endParaRPr lang="en-US" sz="2400" dirty="0"/>
          </a:p>
        </p:txBody>
      </p:sp>
      <p:sp>
        <p:nvSpPr>
          <p:cNvPr id="5" name="TextBox 4">
            <a:extLst>
              <a:ext uri="{FF2B5EF4-FFF2-40B4-BE49-F238E27FC236}">
                <a16:creationId xmlns:a16="http://schemas.microsoft.com/office/drawing/2014/main" id="{51F20CC0-4518-1E2E-CD28-99D5517B4007}"/>
              </a:ext>
            </a:extLst>
          </p:cNvPr>
          <p:cNvSpPr txBox="1"/>
          <p:nvPr/>
        </p:nvSpPr>
        <p:spPr>
          <a:xfrm>
            <a:off x="462337" y="1331278"/>
            <a:ext cx="9164548" cy="2949269"/>
          </a:xfrm>
          <a:prstGeom prst="rect">
            <a:avLst/>
          </a:prstGeom>
          <a:noFill/>
        </p:spPr>
        <p:txBody>
          <a:bodyPr wrap="square" rtlCol="0">
            <a:spAutoFit/>
          </a:bodyPr>
          <a:lstStyle/>
          <a:p>
            <a:pPr algn="r" rtl="1">
              <a:lnSpc>
                <a:spcPct val="150000"/>
              </a:lnSpc>
            </a:pPr>
            <a:r>
              <a:rPr lang="ar-SA" dirty="0"/>
              <a:t>حقق المشروع كفاءة ملحوظة في استخدام المياه من خلال ري التربة بناءً على احتياجاتها الفعلية، حيث ساهم مستشعر رطوبة التربة في تقليل الهدر وضمان ري دقيق. عمل التكامل بين </a:t>
            </a:r>
            <a:r>
              <a:rPr lang="en-US" dirty="0"/>
              <a:t>Arduino </a:t>
            </a:r>
            <a:r>
              <a:rPr lang="ar-SA" dirty="0" err="1"/>
              <a:t>والريلاي</a:t>
            </a:r>
            <a:r>
              <a:rPr lang="ar-SA" dirty="0"/>
              <a:t> ومضخة المياه على تشغيل النظام تلقائيًا، مما قلل من الحاجة للتدخل البشري وساهم في استمرارية الأداء. كما أضاف مستشعر </a:t>
            </a:r>
            <a:r>
              <a:rPr lang="en-US" dirty="0"/>
              <a:t>DHT11 </a:t>
            </a:r>
            <a:r>
              <a:rPr lang="ar-SA" dirty="0"/>
              <a:t>ميزة قياس درجة الحرارة والرطوبة المحيطة، مما يساعد على تحسين إدارة الزراعة وفقًا للظروف البيئية. أتاح استخدام وحدة </a:t>
            </a:r>
            <a:r>
              <a:rPr lang="en-US" dirty="0"/>
              <a:t>ESP8266 </a:t>
            </a:r>
            <a:r>
              <a:rPr lang="ar-SA" dirty="0"/>
              <a:t>التحكم اللاسلكي بالنظام ومراقبته عن بعد، مما زاد من مرونة الاستخدام وسهولة التطبيق. ساعدت </a:t>
            </a:r>
            <a:r>
              <a:rPr lang="ar-SA" dirty="0" err="1"/>
              <a:t>البردبورد</a:t>
            </a:r>
            <a:r>
              <a:rPr lang="ar-SA" dirty="0"/>
              <a:t> وأسلاك التوصيل في إنشاء تصميم منظم وقابل للتعديل، مما يجعل النظام مناسبًا للاستخدام الحالي والتطوير المستقبلي. أثبت المشروع أنه حل عملي وفعال لتحسين أنظمة الري بطرق مستدامة.</a:t>
            </a:r>
            <a:endParaRPr lang="en-US" dirty="0"/>
          </a:p>
        </p:txBody>
      </p:sp>
    </p:spTree>
    <p:extLst>
      <p:ext uri="{BB962C8B-B14F-4D97-AF65-F5344CB8AC3E}">
        <p14:creationId xmlns:p14="http://schemas.microsoft.com/office/powerpoint/2010/main" val="1044601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C18C0-5FAD-D26B-EF3E-59971477F3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6E4D0-637D-29DB-9655-AF88811DA9CD}"/>
              </a:ext>
            </a:extLst>
          </p:cNvPr>
          <p:cNvSpPr>
            <a:spLocks noGrp="1"/>
          </p:cNvSpPr>
          <p:nvPr>
            <p:ph type="title"/>
          </p:nvPr>
        </p:nvSpPr>
        <p:spPr>
          <a:xfrm>
            <a:off x="1797666" y="2768600"/>
            <a:ext cx="8596668" cy="1320800"/>
          </a:xfrm>
        </p:spPr>
        <p:txBody>
          <a:bodyPr>
            <a:normAutofit/>
          </a:bodyPr>
          <a:lstStyle/>
          <a:p>
            <a:pPr algn="ctr" rtl="1"/>
            <a:r>
              <a:rPr lang="ar-YE" sz="4400" b="1" dirty="0"/>
              <a:t>مقدمة عن </a:t>
            </a:r>
            <a:r>
              <a:rPr lang="en-US" sz="4400" b="1" dirty="0"/>
              <a:t>Firebase</a:t>
            </a:r>
            <a:endParaRPr lang="en-US" sz="4400" dirty="0"/>
          </a:p>
        </p:txBody>
      </p:sp>
    </p:spTree>
    <p:extLst>
      <p:ext uri="{BB962C8B-B14F-4D97-AF65-F5344CB8AC3E}">
        <p14:creationId xmlns:p14="http://schemas.microsoft.com/office/powerpoint/2010/main" val="234320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2447E-E849-1854-C2B3-B9A5FBE5F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57E8C-5F13-8137-2A36-15F0DDE38E15}"/>
              </a:ext>
            </a:extLst>
          </p:cNvPr>
          <p:cNvSpPr>
            <a:spLocks noGrp="1"/>
          </p:cNvSpPr>
          <p:nvPr>
            <p:ph type="title"/>
          </p:nvPr>
        </p:nvSpPr>
        <p:spPr>
          <a:xfrm>
            <a:off x="0" y="407542"/>
            <a:ext cx="9894014" cy="756863"/>
          </a:xfrm>
        </p:spPr>
        <p:txBody>
          <a:bodyPr>
            <a:normAutofit/>
          </a:bodyPr>
          <a:lstStyle/>
          <a:p>
            <a:pPr algn="r" rtl="1"/>
            <a:r>
              <a:rPr lang="en-US" sz="2400" b="1" dirty="0"/>
              <a:t>Firebase</a:t>
            </a:r>
            <a:endParaRPr lang="en-US" sz="2400" dirty="0"/>
          </a:p>
        </p:txBody>
      </p:sp>
      <p:sp>
        <p:nvSpPr>
          <p:cNvPr id="5" name="TextBox 4">
            <a:extLst>
              <a:ext uri="{FF2B5EF4-FFF2-40B4-BE49-F238E27FC236}">
                <a16:creationId xmlns:a16="http://schemas.microsoft.com/office/drawing/2014/main" id="{FA104BDD-3DE7-5D48-E08D-C8FD8EE3D116}"/>
              </a:ext>
            </a:extLst>
          </p:cNvPr>
          <p:cNvSpPr txBox="1"/>
          <p:nvPr/>
        </p:nvSpPr>
        <p:spPr>
          <a:xfrm>
            <a:off x="462337" y="1331278"/>
            <a:ext cx="9164548" cy="2533771"/>
          </a:xfrm>
          <a:prstGeom prst="rect">
            <a:avLst/>
          </a:prstGeom>
          <a:noFill/>
        </p:spPr>
        <p:txBody>
          <a:bodyPr wrap="square" rtlCol="0">
            <a:spAutoFit/>
          </a:bodyPr>
          <a:lstStyle/>
          <a:p>
            <a:pPr algn="r" rtl="1">
              <a:lnSpc>
                <a:spcPct val="150000"/>
              </a:lnSpc>
            </a:pPr>
            <a:r>
              <a:rPr lang="en-US" dirty="0"/>
              <a:t>Firebase </a:t>
            </a:r>
            <a:r>
              <a:rPr lang="ar-SA" dirty="0"/>
              <a:t>هي منصة شاملة لتطوير التطبيقات مقدمة من </a:t>
            </a:r>
            <a:r>
              <a:rPr lang="en-US" dirty="0"/>
              <a:t>Google، </a:t>
            </a:r>
            <a:r>
              <a:rPr lang="ar-SA" dirty="0"/>
              <a:t>توفر للمطورين الأدوات اللازمة لإنشاء تطبيقات قوية ومبتكرة. تأسست </a:t>
            </a:r>
            <a:r>
              <a:rPr lang="en-US" dirty="0"/>
              <a:t> Firebase </a:t>
            </a:r>
            <a:r>
              <a:rPr lang="ar-SA" dirty="0"/>
              <a:t>في البداية كمنصة لتطبيقات الهواتف الذكية لكنها تطورت لتشمل تطوير التطبيقات عبر جميع المنصات. من أهم مزاياها:</a:t>
            </a:r>
            <a:r>
              <a:rPr lang="en-US" dirty="0"/>
              <a:t> </a:t>
            </a:r>
            <a:r>
              <a:rPr lang="ar-SA" dirty="0"/>
              <a:t>قاعدة بيانات في الوقت الفعلي: تتيح للمطورين تحديث البيانات ومزامنتها بين المستخدمين في الوقت الحقيقي. التعلم الآلي: تقديم ميزات التعلم الآلي بفضل </a:t>
            </a:r>
            <a:r>
              <a:rPr lang="en-US" dirty="0"/>
              <a:t> Firebase ML Kit.</a:t>
            </a:r>
            <a:r>
              <a:rPr lang="ar-SA" dirty="0"/>
              <a:t>سهولة التكامل: توفر واجهات برمجة تطبيقات </a:t>
            </a:r>
            <a:r>
              <a:rPr lang="en-US" dirty="0"/>
              <a:t> APIs </a:t>
            </a:r>
            <a:r>
              <a:rPr lang="ar-SA" dirty="0"/>
              <a:t>سهلة وموثوقة. دعم متعدد الأنظمة: يمكن استخدام </a:t>
            </a:r>
            <a:r>
              <a:rPr lang="en-US" dirty="0"/>
              <a:t> Firebase </a:t>
            </a:r>
            <a:r>
              <a:rPr lang="ar-SA" dirty="0"/>
              <a:t>على أنظمة تشغيل </a:t>
            </a:r>
            <a:r>
              <a:rPr lang="en-US" dirty="0"/>
              <a:t> Android </a:t>
            </a:r>
            <a:r>
              <a:rPr lang="ar-SA" dirty="0"/>
              <a:t>و</a:t>
            </a:r>
            <a:r>
              <a:rPr lang="en-US" dirty="0"/>
              <a:t>iOS </a:t>
            </a:r>
            <a:r>
              <a:rPr lang="ar-SA" dirty="0"/>
              <a:t>و</a:t>
            </a:r>
            <a:r>
              <a:rPr lang="en-US" dirty="0"/>
              <a:t>Web </a:t>
            </a:r>
          </a:p>
        </p:txBody>
      </p:sp>
    </p:spTree>
    <p:extLst>
      <p:ext uri="{BB962C8B-B14F-4D97-AF65-F5344CB8AC3E}">
        <p14:creationId xmlns:p14="http://schemas.microsoft.com/office/powerpoint/2010/main" val="1833203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43067-03B0-755F-C5DE-F12F8B1524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715AF-8FC4-C266-EFB6-FD68B17F2903}"/>
              </a:ext>
            </a:extLst>
          </p:cNvPr>
          <p:cNvSpPr>
            <a:spLocks noGrp="1"/>
          </p:cNvSpPr>
          <p:nvPr>
            <p:ph type="title"/>
          </p:nvPr>
        </p:nvSpPr>
        <p:spPr>
          <a:xfrm>
            <a:off x="0" y="407542"/>
            <a:ext cx="9894014" cy="756863"/>
          </a:xfrm>
        </p:spPr>
        <p:txBody>
          <a:bodyPr>
            <a:normAutofit/>
          </a:bodyPr>
          <a:lstStyle/>
          <a:p>
            <a:pPr algn="r" rtl="1"/>
            <a:r>
              <a:rPr lang="ar-SA" sz="2400" b="1" dirty="0"/>
              <a:t>التقنيات المستخدمة في </a:t>
            </a:r>
            <a:r>
              <a:rPr lang="en-US" sz="2400" b="1" dirty="0"/>
              <a:t>Firebase</a:t>
            </a:r>
            <a:endParaRPr lang="en-US" sz="2400" dirty="0"/>
          </a:p>
        </p:txBody>
      </p:sp>
      <p:sp>
        <p:nvSpPr>
          <p:cNvPr id="5" name="TextBox 4">
            <a:extLst>
              <a:ext uri="{FF2B5EF4-FFF2-40B4-BE49-F238E27FC236}">
                <a16:creationId xmlns:a16="http://schemas.microsoft.com/office/drawing/2014/main" id="{1BA178AF-3AFF-A15C-B612-20F5BB540807}"/>
              </a:ext>
            </a:extLst>
          </p:cNvPr>
          <p:cNvSpPr txBox="1"/>
          <p:nvPr/>
        </p:nvSpPr>
        <p:spPr>
          <a:xfrm>
            <a:off x="462337" y="1331278"/>
            <a:ext cx="9164548" cy="2118272"/>
          </a:xfrm>
          <a:prstGeom prst="rect">
            <a:avLst/>
          </a:prstGeom>
          <a:noFill/>
        </p:spPr>
        <p:txBody>
          <a:bodyPr wrap="square" rtlCol="0">
            <a:spAutoFit/>
          </a:bodyPr>
          <a:lstStyle/>
          <a:p>
            <a:pPr algn="r" rtl="1">
              <a:lnSpc>
                <a:spcPct val="150000"/>
              </a:lnSpc>
            </a:pPr>
            <a:r>
              <a:rPr lang="en-US" dirty="0"/>
              <a:t> Firebase </a:t>
            </a:r>
            <a:r>
              <a:rPr lang="ar-SA" dirty="0"/>
              <a:t>يعتمد على مجموعة من التقنيات المبتكرة لضمان الأداء الفعال، ومنها:</a:t>
            </a:r>
            <a:endParaRPr lang="en-US" dirty="0"/>
          </a:p>
          <a:p>
            <a:pPr marL="285750" indent="-285750" algn="r" rtl="1">
              <a:lnSpc>
                <a:spcPct val="150000"/>
              </a:lnSpc>
              <a:buFont typeface="Arial" panose="020B0604020202020204" pitchFamily="34" charset="0"/>
              <a:buChar char="•"/>
            </a:pPr>
            <a:r>
              <a:rPr lang="en-US" b="1" dirty="0"/>
              <a:t> :Cloud </a:t>
            </a:r>
            <a:r>
              <a:rPr lang="en-US" b="1" dirty="0" err="1"/>
              <a:t>Firestore</a:t>
            </a:r>
            <a:r>
              <a:rPr lang="en-US" dirty="0"/>
              <a:t> </a:t>
            </a:r>
            <a:r>
              <a:rPr lang="ar-SA" dirty="0"/>
              <a:t>قاعدة بيانات سحابية مُدارة بالكامل تتميز بالقابلية للتوسع وسرعة الأداء</a:t>
            </a:r>
            <a:r>
              <a:rPr lang="en-US" dirty="0"/>
              <a:t>.</a:t>
            </a:r>
          </a:p>
          <a:p>
            <a:pPr marL="285750" indent="-285750" algn="r" rtl="1">
              <a:lnSpc>
                <a:spcPct val="150000"/>
              </a:lnSpc>
              <a:buFont typeface="Arial" panose="020B0604020202020204" pitchFamily="34" charset="0"/>
              <a:buChar char="•"/>
            </a:pPr>
            <a:r>
              <a:rPr lang="en-US" dirty="0"/>
              <a:t> :</a:t>
            </a:r>
            <a:r>
              <a:rPr lang="en-US" b="1" dirty="0"/>
              <a:t>Firebase Authentication </a:t>
            </a:r>
            <a:r>
              <a:rPr lang="ar-SA" dirty="0"/>
              <a:t>يُمكن للمطورين من إنشاء عمليات تسجيل دخول سلسة وآمنة للمستخدمين.</a:t>
            </a:r>
            <a:endParaRPr lang="en-US" dirty="0"/>
          </a:p>
          <a:p>
            <a:pPr marL="285750" indent="-285750" algn="r" rtl="1">
              <a:lnSpc>
                <a:spcPct val="150000"/>
              </a:lnSpc>
              <a:buFont typeface="Arial" panose="020B0604020202020204" pitchFamily="34" charset="0"/>
              <a:buChar char="•"/>
            </a:pPr>
            <a:r>
              <a:rPr lang="en-US" dirty="0"/>
              <a:t> </a:t>
            </a:r>
            <a:r>
              <a:rPr lang="en-US" b="1" dirty="0"/>
              <a:t>Realtime Database </a:t>
            </a:r>
            <a:r>
              <a:rPr lang="ar-SA" dirty="0"/>
              <a:t>قاعدة بيانات في الوقت الفعلي تتيح للمطورين مزامنة البيانات بين المستخدمين بشكل فوري. تعمل على تحسين تجربة المستخدمين من خلال التحديث المباشر للتطبيقات دون الحاجة إلى تحديث الصفحة يدويًا.</a:t>
            </a:r>
            <a:endParaRPr lang="en-US" dirty="0"/>
          </a:p>
        </p:txBody>
      </p:sp>
    </p:spTree>
    <p:extLst>
      <p:ext uri="{BB962C8B-B14F-4D97-AF65-F5344CB8AC3E}">
        <p14:creationId xmlns:p14="http://schemas.microsoft.com/office/powerpoint/2010/main" val="3836192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F94C-74D5-A120-185C-563DF6FC45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84E6C-72A3-CEF8-093E-358644E851BB}"/>
              </a:ext>
            </a:extLst>
          </p:cNvPr>
          <p:cNvSpPr>
            <a:spLocks noGrp="1"/>
          </p:cNvSpPr>
          <p:nvPr>
            <p:ph type="title"/>
          </p:nvPr>
        </p:nvSpPr>
        <p:spPr>
          <a:xfrm>
            <a:off x="0" y="407542"/>
            <a:ext cx="9894014" cy="756863"/>
          </a:xfrm>
        </p:spPr>
        <p:txBody>
          <a:bodyPr>
            <a:normAutofit/>
          </a:bodyPr>
          <a:lstStyle/>
          <a:p>
            <a:pPr algn="r" rtl="1"/>
            <a:r>
              <a:rPr lang="ar-SA" sz="2400" b="1" dirty="0"/>
              <a:t>لماذا اخترنا </a:t>
            </a:r>
            <a:r>
              <a:rPr lang="en-US" sz="2400" b="1" dirty="0"/>
              <a:t>Firebase</a:t>
            </a:r>
            <a:endParaRPr lang="en-US" sz="2400" dirty="0"/>
          </a:p>
        </p:txBody>
      </p:sp>
      <p:sp>
        <p:nvSpPr>
          <p:cNvPr id="5" name="TextBox 4">
            <a:extLst>
              <a:ext uri="{FF2B5EF4-FFF2-40B4-BE49-F238E27FC236}">
                <a16:creationId xmlns:a16="http://schemas.microsoft.com/office/drawing/2014/main" id="{4D950455-26E5-3A6C-F702-F2F45D213372}"/>
              </a:ext>
            </a:extLst>
          </p:cNvPr>
          <p:cNvSpPr txBox="1"/>
          <p:nvPr/>
        </p:nvSpPr>
        <p:spPr>
          <a:xfrm>
            <a:off x="462337" y="1331278"/>
            <a:ext cx="9164548" cy="2533771"/>
          </a:xfrm>
          <a:prstGeom prst="rect">
            <a:avLst/>
          </a:prstGeom>
          <a:noFill/>
        </p:spPr>
        <p:txBody>
          <a:bodyPr wrap="square" rtlCol="0">
            <a:spAutoFit/>
          </a:bodyPr>
          <a:lstStyle/>
          <a:p>
            <a:pPr algn="r" rtl="1">
              <a:lnSpc>
                <a:spcPct val="150000"/>
              </a:lnSpc>
            </a:pPr>
            <a:r>
              <a:rPr lang="en-US" dirty="0"/>
              <a:t> Firebase </a:t>
            </a:r>
            <a:r>
              <a:rPr lang="ar-SA" dirty="0"/>
              <a:t>يوفر ميزات تجعل تطوير التطبيق أكثر كفاءة. الأسباب الرئيسية لاختيارنا: </a:t>
            </a:r>
            <a:endParaRPr lang="en-US" dirty="0"/>
          </a:p>
          <a:p>
            <a:pPr marL="285750" indent="-285750" algn="r" rtl="1">
              <a:lnSpc>
                <a:spcPct val="150000"/>
              </a:lnSpc>
              <a:buFont typeface="Arial" panose="020B0604020202020204" pitchFamily="34" charset="0"/>
              <a:buChar char="•"/>
            </a:pPr>
            <a:r>
              <a:rPr lang="ar-SA" dirty="0"/>
              <a:t>التزامن في الوقت الفعلي: دعم المشاريع التي تتطلب تحديثات فورية مثل التطبيقات التفاعلية.</a:t>
            </a:r>
            <a:endParaRPr lang="en-US" dirty="0"/>
          </a:p>
          <a:p>
            <a:pPr marL="285750" indent="-285750" algn="r" rtl="1">
              <a:lnSpc>
                <a:spcPct val="150000"/>
              </a:lnSpc>
              <a:buFont typeface="Arial" panose="020B0604020202020204" pitchFamily="34" charset="0"/>
              <a:buChar char="•"/>
            </a:pPr>
            <a:r>
              <a:rPr lang="ar-SA" dirty="0"/>
              <a:t>سهولة التطوير: توفير أدوات جاهزة تقلل من الوقت والجهد المطلوبين.</a:t>
            </a:r>
            <a:endParaRPr lang="en-US" dirty="0"/>
          </a:p>
          <a:p>
            <a:pPr marL="285750" indent="-285750" algn="r" rtl="1">
              <a:lnSpc>
                <a:spcPct val="150000"/>
              </a:lnSpc>
              <a:buFont typeface="Arial" panose="020B0604020202020204" pitchFamily="34" charset="0"/>
              <a:buChar char="•"/>
            </a:pPr>
            <a:r>
              <a:rPr lang="ar-SA" dirty="0"/>
              <a:t>دعم مجاني ومتميز: توفير خطة مجانية للمشاريع الصغيرة مع خيارات ترقية مرنة.</a:t>
            </a:r>
            <a:endParaRPr lang="en-US" dirty="0"/>
          </a:p>
          <a:p>
            <a:pPr marL="285750" indent="-285750" algn="r" rtl="1">
              <a:lnSpc>
                <a:spcPct val="150000"/>
              </a:lnSpc>
              <a:buFont typeface="Arial" panose="020B0604020202020204" pitchFamily="34" charset="0"/>
              <a:buChar char="•"/>
            </a:pPr>
            <a:r>
              <a:rPr lang="ar-SA" dirty="0"/>
              <a:t>التوسع التلقائي: إدارة الحمل الثقيل تلقائيًا في حالة زيادة المستخدمين.</a:t>
            </a:r>
            <a:endParaRPr lang="en-US" dirty="0"/>
          </a:p>
          <a:p>
            <a:pPr marL="285750" indent="-285750" algn="r" rtl="1">
              <a:lnSpc>
                <a:spcPct val="150000"/>
              </a:lnSpc>
              <a:buFont typeface="Arial" panose="020B0604020202020204" pitchFamily="34" charset="0"/>
              <a:buChar char="•"/>
            </a:pPr>
            <a:r>
              <a:rPr lang="ar-SA" dirty="0"/>
              <a:t>الدمج مع خدمات </a:t>
            </a:r>
            <a:r>
              <a:rPr lang="en-US" dirty="0"/>
              <a:t>Google: </a:t>
            </a:r>
            <a:r>
              <a:rPr lang="ar-SA" dirty="0"/>
              <a:t>الاستفادة من قوة البنية التحتية لشركة </a:t>
            </a:r>
            <a:r>
              <a:rPr lang="en-US" dirty="0"/>
              <a:t>.Google</a:t>
            </a:r>
          </a:p>
        </p:txBody>
      </p:sp>
    </p:spTree>
    <p:extLst>
      <p:ext uri="{BB962C8B-B14F-4D97-AF65-F5344CB8AC3E}">
        <p14:creationId xmlns:p14="http://schemas.microsoft.com/office/powerpoint/2010/main" val="2196100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B9AC4-A4C6-D61C-8B1B-1EFD3CDCC0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562DE-67E7-05D6-058D-331D659C76EE}"/>
              </a:ext>
            </a:extLst>
          </p:cNvPr>
          <p:cNvSpPr>
            <a:spLocks noGrp="1"/>
          </p:cNvSpPr>
          <p:nvPr>
            <p:ph type="title"/>
          </p:nvPr>
        </p:nvSpPr>
        <p:spPr>
          <a:xfrm>
            <a:off x="0" y="407542"/>
            <a:ext cx="9894014" cy="756863"/>
          </a:xfrm>
        </p:spPr>
        <p:txBody>
          <a:bodyPr>
            <a:normAutofit/>
          </a:bodyPr>
          <a:lstStyle/>
          <a:p>
            <a:pPr algn="r" rtl="1"/>
            <a:r>
              <a:rPr lang="ar-SA" sz="2400" b="1" dirty="0"/>
              <a:t>مقدمة عن </a:t>
            </a:r>
            <a:r>
              <a:rPr lang="en-US" sz="2400" b="1" dirty="0"/>
              <a:t>Arduino</a:t>
            </a:r>
            <a:endParaRPr lang="en-US" sz="2400" dirty="0"/>
          </a:p>
        </p:txBody>
      </p:sp>
      <p:sp>
        <p:nvSpPr>
          <p:cNvPr id="5" name="TextBox 4">
            <a:extLst>
              <a:ext uri="{FF2B5EF4-FFF2-40B4-BE49-F238E27FC236}">
                <a16:creationId xmlns:a16="http://schemas.microsoft.com/office/drawing/2014/main" id="{397F3A4C-1ACB-5E88-7178-2A49FADD5E05}"/>
              </a:ext>
            </a:extLst>
          </p:cNvPr>
          <p:cNvSpPr txBox="1"/>
          <p:nvPr/>
        </p:nvSpPr>
        <p:spPr>
          <a:xfrm>
            <a:off x="462337" y="1331278"/>
            <a:ext cx="9164548" cy="2533771"/>
          </a:xfrm>
          <a:prstGeom prst="rect">
            <a:avLst/>
          </a:prstGeom>
          <a:noFill/>
        </p:spPr>
        <p:txBody>
          <a:bodyPr wrap="square" rtlCol="0">
            <a:spAutoFit/>
          </a:bodyPr>
          <a:lstStyle/>
          <a:p>
            <a:pPr algn="r" rtl="1">
              <a:lnSpc>
                <a:spcPct val="150000"/>
              </a:lnSpc>
            </a:pPr>
            <a:r>
              <a:rPr lang="en-US" dirty="0"/>
              <a:t>Arduino </a:t>
            </a:r>
            <a:r>
              <a:rPr lang="ar-SA" dirty="0"/>
              <a:t>هي منصة إلكترونية مفتوحة المصدر تم إنشاؤها لجعل الإلكترونيات والبرمجة سهلة الوصول للجميع. بعض مميزاتها:</a:t>
            </a:r>
            <a:endParaRPr lang="en-US" dirty="0"/>
          </a:p>
          <a:p>
            <a:pPr marL="285750" indent="-285750" algn="r" rtl="1">
              <a:lnSpc>
                <a:spcPct val="150000"/>
              </a:lnSpc>
              <a:buFont typeface="Arial" panose="020B0604020202020204" pitchFamily="34" charset="0"/>
              <a:buChar char="•"/>
            </a:pPr>
            <a:r>
              <a:rPr lang="ar-SA" dirty="0"/>
              <a:t>اللوحات المتنوعة: مثل </a:t>
            </a:r>
            <a:r>
              <a:rPr lang="en-US" dirty="0"/>
              <a:t>Arduino Uno Arduino Nano </a:t>
            </a:r>
            <a:r>
              <a:rPr lang="ar-SA" dirty="0"/>
              <a:t>و</a:t>
            </a:r>
            <a:r>
              <a:rPr lang="en-US" dirty="0"/>
              <a:t>Arduino Mega</a:t>
            </a:r>
          </a:p>
          <a:p>
            <a:pPr marL="285750" indent="-285750" algn="r" rtl="1">
              <a:lnSpc>
                <a:spcPct val="150000"/>
              </a:lnSpc>
              <a:buFont typeface="Arial" panose="020B0604020202020204" pitchFamily="34" charset="0"/>
              <a:buChar char="•"/>
            </a:pPr>
            <a:r>
              <a:rPr lang="ar-SA" dirty="0"/>
              <a:t>واجهة برمجة سهلة: استخدام لغة البرمجة </a:t>
            </a:r>
            <a:r>
              <a:rPr lang="en-US" dirty="0"/>
              <a:t>C++ </a:t>
            </a:r>
            <a:r>
              <a:rPr lang="ar-SA" dirty="0"/>
              <a:t>مع مكتبات جاهزة.</a:t>
            </a:r>
            <a:endParaRPr lang="en-US" dirty="0"/>
          </a:p>
          <a:p>
            <a:pPr marL="285750" indent="-285750" algn="r" rtl="1">
              <a:lnSpc>
                <a:spcPct val="150000"/>
              </a:lnSpc>
              <a:buFont typeface="Arial" panose="020B0604020202020204" pitchFamily="34" charset="0"/>
              <a:buChar char="•"/>
            </a:pPr>
            <a:r>
              <a:rPr lang="ar-SA" dirty="0"/>
              <a:t>مجموعة ضخمة من المستشعرات: مستشعرات الحرارة، الرطوبة، الحركة، وغيرها.</a:t>
            </a:r>
            <a:endParaRPr lang="en-US" dirty="0"/>
          </a:p>
          <a:p>
            <a:pPr marL="285750" indent="-285750" algn="r" rtl="1">
              <a:lnSpc>
                <a:spcPct val="150000"/>
              </a:lnSpc>
              <a:buFont typeface="Arial" panose="020B0604020202020204" pitchFamily="34" charset="0"/>
              <a:buChar char="•"/>
            </a:pPr>
            <a:r>
              <a:rPr lang="ar-SA" dirty="0"/>
              <a:t>إمكانية التوسع: يمكن دمجها بسهولة مع مكونات خارجية مثل محركات وأجهزة اتصال لاسلكية.</a:t>
            </a:r>
            <a:endParaRPr lang="en-US" dirty="0"/>
          </a:p>
        </p:txBody>
      </p:sp>
    </p:spTree>
    <p:extLst>
      <p:ext uri="{BB962C8B-B14F-4D97-AF65-F5344CB8AC3E}">
        <p14:creationId xmlns:p14="http://schemas.microsoft.com/office/powerpoint/2010/main" val="838148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DBDE6-93E4-9DD1-2D68-DE8253540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09D86-A96C-D9E0-6887-5CF41D8EEECC}"/>
              </a:ext>
            </a:extLst>
          </p:cNvPr>
          <p:cNvSpPr>
            <a:spLocks noGrp="1"/>
          </p:cNvSpPr>
          <p:nvPr>
            <p:ph type="title"/>
          </p:nvPr>
        </p:nvSpPr>
        <p:spPr>
          <a:xfrm>
            <a:off x="0" y="407542"/>
            <a:ext cx="9894014" cy="756863"/>
          </a:xfrm>
        </p:spPr>
        <p:txBody>
          <a:bodyPr>
            <a:normAutofit/>
          </a:bodyPr>
          <a:lstStyle/>
          <a:p>
            <a:pPr algn="r" rtl="1"/>
            <a:r>
              <a:rPr lang="ar-SA" sz="2400" b="1" dirty="0"/>
              <a:t>لماذا اخترنا </a:t>
            </a:r>
            <a:r>
              <a:rPr lang="en-US" sz="2400" b="1" dirty="0"/>
              <a:t>Arduino</a:t>
            </a:r>
            <a:endParaRPr lang="en-US" sz="2400" dirty="0"/>
          </a:p>
        </p:txBody>
      </p:sp>
      <p:sp>
        <p:nvSpPr>
          <p:cNvPr id="5" name="TextBox 4">
            <a:extLst>
              <a:ext uri="{FF2B5EF4-FFF2-40B4-BE49-F238E27FC236}">
                <a16:creationId xmlns:a16="http://schemas.microsoft.com/office/drawing/2014/main" id="{9338DD9C-56C9-7295-9786-8C34660B118B}"/>
              </a:ext>
            </a:extLst>
          </p:cNvPr>
          <p:cNvSpPr txBox="1"/>
          <p:nvPr/>
        </p:nvSpPr>
        <p:spPr>
          <a:xfrm>
            <a:off x="462337" y="1331278"/>
            <a:ext cx="9164548" cy="2118272"/>
          </a:xfrm>
          <a:prstGeom prst="rect">
            <a:avLst/>
          </a:prstGeom>
          <a:noFill/>
        </p:spPr>
        <p:txBody>
          <a:bodyPr wrap="square" rtlCol="0">
            <a:spAutoFit/>
          </a:bodyPr>
          <a:lstStyle/>
          <a:p>
            <a:pPr algn="r" rtl="1">
              <a:lnSpc>
                <a:spcPct val="150000"/>
              </a:lnSpc>
            </a:pPr>
            <a:r>
              <a:rPr lang="en-US" dirty="0"/>
              <a:t> Arduino </a:t>
            </a:r>
            <a:r>
              <a:rPr lang="ar-SA" dirty="0"/>
              <a:t>يعتبر خيارًا مثاليًا لمشروعنا بسبب:</a:t>
            </a:r>
            <a:endParaRPr lang="en-US" dirty="0"/>
          </a:p>
          <a:p>
            <a:pPr marL="285750" indent="-285750" algn="r" rtl="1">
              <a:lnSpc>
                <a:spcPct val="150000"/>
              </a:lnSpc>
              <a:buFont typeface="Arial" panose="020B0604020202020204" pitchFamily="34" charset="0"/>
              <a:buChar char="•"/>
            </a:pPr>
            <a:r>
              <a:rPr lang="ar-SA" dirty="0"/>
              <a:t>المرونة: يمكن برمجته وتوصيله بمختلف الأجهزة والمستشعرات.</a:t>
            </a:r>
            <a:endParaRPr lang="en-US" dirty="0"/>
          </a:p>
          <a:p>
            <a:pPr marL="285750" indent="-285750" algn="r" rtl="1">
              <a:lnSpc>
                <a:spcPct val="150000"/>
              </a:lnSpc>
              <a:buFont typeface="Arial" panose="020B0604020202020204" pitchFamily="34" charset="0"/>
              <a:buChar char="•"/>
            </a:pPr>
            <a:r>
              <a:rPr lang="ar-SA" dirty="0"/>
              <a:t>مجتمع واسع: مكتبات ودعم من مجتمع عالمي يساعد في حل المشكلات.</a:t>
            </a:r>
            <a:endParaRPr lang="en-US" dirty="0"/>
          </a:p>
          <a:p>
            <a:pPr marL="285750" indent="-285750" algn="r" rtl="1">
              <a:lnSpc>
                <a:spcPct val="150000"/>
              </a:lnSpc>
              <a:buFont typeface="Arial" panose="020B0604020202020204" pitchFamily="34" charset="0"/>
              <a:buChar char="•"/>
            </a:pPr>
            <a:r>
              <a:rPr lang="ar-SA" dirty="0"/>
              <a:t>التكلفة المنخفضة: خيار اقتصادي مقارنة بالمنصات الأخرى.</a:t>
            </a:r>
            <a:endParaRPr lang="en-US" dirty="0"/>
          </a:p>
          <a:p>
            <a:pPr marL="285750" indent="-285750" algn="r" rtl="1">
              <a:lnSpc>
                <a:spcPct val="150000"/>
              </a:lnSpc>
              <a:buFont typeface="Arial" panose="020B0604020202020204" pitchFamily="34" charset="0"/>
              <a:buChar char="•"/>
            </a:pPr>
            <a:r>
              <a:rPr lang="ar-SA" dirty="0"/>
              <a:t>سهولة الاستخدام: مناسب للمبتدئين والمحترفين على حد سواء.</a:t>
            </a:r>
            <a:endParaRPr lang="en-US" dirty="0"/>
          </a:p>
        </p:txBody>
      </p:sp>
    </p:spTree>
    <p:extLst>
      <p:ext uri="{BB962C8B-B14F-4D97-AF65-F5344CB8AC3E}">
        <p14:creationId xmlns:p14="http://schemas.microsoft.com/office/powerpoint/2010/main" val="3464099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19EC4-8E29-00BE-BCBF-20987E301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9B532-3465-3162-F3E5-877ADD756FD6}"/>
              </a:ext>
            </a:extLst>
          </p:cNvPr>
          <p:cNvSpPr>
            <a:spLocks noGrp="1"/>
          </p:cNvSpPr>
          <p:nvPr>
            <p:ph type="title"/>
          </p:nvPr>
        </p:nvSpPr>
        <p:spPr>
          <a:xfrm>
            <a:off x="0" y="407542"/>
            <a:ext cx="9894014" cy="756863"/>
          </a:xfrm>
        </p:spPr>
        <p:txBody>
          <a:bodyPr>
            <a:normAutofit/>
          </a:bodyPr>
          <a:lstStyle/>
          <a:p>
            <a:pPr algn="r" rtl="1"/>
            <a:r>
              <a:rPr lang="ar-SA" sz="2400" b="1" dirty="0"/>
              <a:t>تطبيق </a:t>
            </a:r>
            <a:r>
              <a:rPr lang="en-US" sz="2400" b="1" dirty="0"/>
              <a:t> Firebase </a:t>
            </a:r>
            <a:r>
              <a:rPr lang="ar-SA" sz="2400" b="1" dirty="0"/>
              <a:t>في المشروع</a:t>
            </a:r>
            <a:endParaRPr lang="en-US" sz="2400" dirty="0"/>
          </a:p>
        </p:txBody>
      </p:sp>
      <p:sp>
        <p:nvSpPr>
          <p:cNvPr id="5" name="TextBox 4">
            <a:extLst>
              <a:ext uri="{FF2B5EF4-FFF2-40B4-BE49-F238E27FC236}">
                <a16:creationId xmlns:a16="http://schemas.microsoft.com/office/drawing/2014/main" id="{BB0EDB20-BF43-09F5-255A-4D1935EBD5DF}"/>
              </a:ext>
            </a:extLst>
          </p:cNvPr>
          <p:cNvSpPr txBox="1"/>
          <p:nvPr/>
        </p:nvSpPr>
        <p:spPr>
          <a:xfrm>
            <a:off x="462337" y="1331278"/>
            <a:ext cx="9164548" cy="2118272"/>
          </a:xfrm>
          <a:prstGeom prst="rect">
            <a:avLst/>
          </a:prstGeom>
          <a:noFill/>
        </p:spPr>
        <p:txBody>
          <a:bodyPr wrap="square" rtlCol="0">
            <a:spAutoFit/>
          </a:bodyPr>
          <a:lstStyle/>
          <a:p>
            <a:pPr algn="r" rtl="1">
              <a:lnSpc>
                <a:spcPct val="150000"/>
              </a:lnSpc>
            </a:pPr>
            <a:r>
              <a:rPr lang="ar-SA" dirty="0"/>
              <a:t>في هذا المشروع، يتم استخدام </a:t>
            </a:r>
            <a:r>
              <a:rPr lang="en-US" dirty="0"/>
              <a:t>Firebase </a:t>
            </a:r>
            <a:r>
              <a:rPr lang="ar-SA" dirty="0"/>
              <a:t>لإدارة البيانات وتنظيمها:</a:t>
            </a:r>
            <a:endParaRPr lang="en-US" dirty="0"/>
          </a:p>
          <a:p>
            <a:pPr marL="285750" indent="-285750" algn="r" rtl="1">
              <a:lnSpc>
                <a:spcPct val="150000"/>
              </a:lnSpc>
              <a:buFont typeface="Arial" panose="020B0604020202020204" pitchFamily="34" charset="0"/>
              <a:buChar char="•"/>
            </a:pPr>
            <a:r>
              <a:rPr lang="ar-SA" dirty="0"/>
              <a:t>مصادقة المستخدمين: التحقق من هوية المستخدمين بشكل آمن.</a:t>
            </a:r>
            <a:endParaRPr lang="en-US" dirty="0"/>
          </a:p>
          <a:p>
            <a:pPr marL="285750" indent="-285750" algn="r" rtl="1">
              <a:lnSpc>
                <a:spcPct val="150000"/>
              </a:lnSpc>
              <a:buFont typeface="Arial" panose="020B0604020202020204" pitchFamily="34" charset="0"/>
              <a:buChar char="•"/>
            </a:pPr>
            <a:r>
              <a:rPr lang="ar-SA" dirty="0"/>
              <a:t>التخزين </a:t>
            </a:r>
            <a:r>
              <a:rPr lang="ar-SA" dirty="0" err="1"/>
              <a:t>السحابي</a:t>
            </a:r>
            <a:r>
              <a:rPr lang="ar-SA" dirty="0"/>
              <a:t>: حفظ البيانات التي يتم جمعها من المستشعرات.</a:t>
            </a:r>
            <a:endParaRPr lang="en-US" dirty="0"/>
          </a:p>
          <a:p>
            <a:pPr marL="285750" indent="-285750" algn="r" rtl="1">
              <a:lnSpc>
                <a:spcPct val="150000"/>
              </a:lnSpc>
              <a:buFont typeface="Arial" panose="020B0604020202020204" pitchFamily="34" charset="0"/>
              <a:buChar char="•"/>
            </a:pPr>
            <a:r>
              <a:rPr lang="ar-SA" dirty="0"/>
              <a:t>مزامنة البيانات: توفير تحديثات في الوقت الحقيقي للمستخدمين.</a:t>
            </a:r>
            <a:endParaRPr lang="en-US" dirty="0"/>
          </a:p>
          <a:p>
            <a:pPr marL="285750" indent="-285750" algn="r" rtl="1">
              <a:lnSpc>
                <a:spcPct val="150000"/>
              </a:lnSpc>
              <a:buFont typeface="Arial" panose="020B0604020202020204" pitchFamily="34" charset="0"/>
              <a:buChar char="•"/>
            </a:pPr>
            <a:r>
              <a:rPr lang="ar-SA" dirty="0"/>
              <a:t>التفاعل مع الواجهة الأمامية: تمكين التطبيقات من جلب وعرض البيانات مباشرة من </a:t>
            </a:r>
            <a:r>
              <a:rPr lang="en-US" dirty="0"/>
              <a:t>.Firebase</a:t>
            </a:r>
          </a:p>
        </p:txBody>
      </p:sp>
    </p:spTree>
    <p:extLst>
      <p:ext uri="{BB962C8B-B14F-4D97-AF65-F5344CB8AC3E}">
        <p14:creationId xmlns:p14="http://schemas.microsoft.com/office/powerpoint/2010/main" val="1568788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03652-97D4-41F4-8B78-2ECAAAF4F8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134C3-4A33-FAD3-D092-DD7D7371AC07}"/>
              </a:ext>
            </a:extLst>
          </p:cNvPr>
          <p:cNvSpPr>
            <a:spLocks noGrp="1"/>
          </p:cNvSpPr>
          <p:nvPr>
            <p:ph type="title"/>
          </p:nvPr>
        </p:nvSpPr>
        <p:spPr>
          <a:xfrm>
            <a:off x="0" y="407542"/>
            <a:ext cx="9894014" cy="756863"/>
          </a:xfrm>
        </p:spPr>
        <p:txBody>
          <a:bodyPr>
            <a:normAutofit/>
          </a:bodyPr>
          <a:lstStyle/>
          <a:p>
            <a:pPr algn="r" rtl="1"/>
            <a:r>
              <a:rPr lang="ar-SA" sz="2400" b="1" dirty="0"/>
              <a:t>تطبيق </a:t>
            </a:r>
            <a:r>
              <a:rPr lang="en-US" sz="2400" b="1" dirty="0"/>
              <a:t> Arduino </a:t>
            </a:r>
            <a:r>
              <a:rPr lang="ar-SA" sz="2400" b="1" dirty="0"/>
              <a:t>في المشروع</a:t>
            </a:r>
            <a:endParaRPr lang="en-US" sz="2400" dirty="0"/>
          </a:p>
        </p:txBody>
      </p:sp>
      <p:sp>
        <p:nvSpPr>
          <p:cNvPr id="5" name="TextBox 4">
            <a:extLst>
              <a:ext uri="{FF2B5EF4-FFF2-40B4-BE49-F238E27FC236}">
                <a16:creationId xmlns:a16="http://schemas.microsoft.com/office/drawing/2014/main" id="{5C6FDF2D-35F2-F319-7658-F9578DFB1F9F}"/>
              </a:ext>
            </a:extLst>
          </p:cNvPr>
          <p:cNvSpPr txBox="1"/>
          <p:nvPr/>
        </p:nvSpPr>
        <p:spPr>
          <a:xfrm>
            <a:off x="462337" y="1331278"/>
            <a:ext cx="9164548" cy="2118272"/>
          </a:xfrm>
          <a:prstGeom prst="rect">
            <a:avLst/>
          </a:prstGeom>
          <a:noFill/>
        </p:spPr>
        <p:txBody>
          <a:bodyPr wrap="square" rtlCol="0">
            <a:spAutoFit/>
          </a:bodyPr>
          <a:lstStyle/>
          <a:p>
            <a:pPr algn="r" rtl="1">
              <a:lnSpc>
                <a:spcPct val="150000"/>
              </a:lnSpc>
            </a:pPr>
            <a:r>
              <a:rPr lang="en-US" dirty="0"/>
              <a:t> Arduino </a:t>
            </a:r>
            <a:r>
              <a:rPr lang="ar-SA" dirty="0"/>
              <a:t>يلعب دورًا مهمًا كجزء من نظامنا المدمج. يتم استخدامه لـ:</a:t>
            </a:r>
            <a:endParaRPr lang="en-US" dirty="0"/>
          </a:p>
          <a:p>
            <a:pPr marL="285750" indent="-285750" algn="r" rtl="1">
              <a:lnSpc>
                <a:spcPct val="150000"/>
              </a:lnSpc>
              <a:buFont typeface="Arial" panose="020B0604020202020204" pitchFamily="34" charset="0"/>
              <a:buChar char="•"/>
            </a:pPr>
            <a:r>
              <a:rPr lang="ar-SA" dirty="0"/>
              <a:t>جمع البيانات: المستشعرات المتصلة بـ </a:t>
            </a:r>
            <a:r>
              <a:rPr lang="en-US" dirty="0"/>
              <a:t>Arduino </a:t>
            </a:r>
            <a:r>
              <a:rPr lang="ar-SA" dirty="0"/>
              <a:t>تجمع بيانات البيئة مثل الحرارة والرطوبة.</a:t>
            </a:r>
            <a:endParaRPr lang="en-US" dirty="0"/>
          </a:p>
          <a:p>
            <a:pPr marL="285750" indent="-285750" algn="r" rtl="1">
              <a:lnSpc>
                <a:spcPct val="150000"/>
              </a:lnSpc>
              <a:buFont typeface="Arial" panose="020B0604020202020204" pitchFamily="34" charset="0"/>
              <a:buChar char="•"/>
            </a:pPr>
            <a:r>
              <a:rPr lang="ar-SA" dirty="0"/>
              <a:t>معالجة البيانات الأولية: يقوم </a:t>
            </a:r>
            <a:r>
              <a:rPr lang="en-US" dirty="0"/>
              <a:t>Arduino </a:t>
            </a:r>
            <a:r>
              <a:rPr lang="ar-SA" dirty="0"/>
              <a:t>بمعالجة البيانات قبل إرسالها.</a:t>
            </a:r>
            <a:endParaRPr lang="en-US" dirty="0"/>
          </a:p>
          <a:p>
            <a:pPr marL="285750" indent="-285750" algn="r" rtl="1">
              <a:lnSpc>
                <a:spcPct val="150000"/>
              </a:lnSpc>
              <a:buFont typeface="Arial" panose="020B0604020202020204" pitchFamily="34" charset="0"/>
              <a:buChar char="•"/>
            </a:pPr>
            <a:r>
              <a:rPr lang="ar-SA" dirty="0"/>
              <a:t>إرسال البيانات إلى </a:t>
            </a:r>
            <a:r>
              <a:rPr lang="en-US" dirty="0"/>
              <a:t>Firebase: </a:t>
            </a:r>
            <a:r>
              <a:rPr lang="ar-SA" dirty="0"/>
              <a:t>إرسال البيانات إلى النظام </a:t>
            </a:r>
            <a:r>
              <a:rPr lang="ar-SA" dirty="0" err="1"/>
              <a:t>السحابي</a:t>
            </a:r>
            <a:r>
              <a:rPr lang="ar-SA" dirty="0"/>
              <a:t> لتخزينها وتحليلها.</a:t>
            </a:r>
            <a:endParaRPr lang="en-US" dirty="0"/>
          </a:p>
          <a:p>
            <a:pPr marL="285750" indent="-285750" algn="r" rtl="1">
              <a:lnSpc>
                <a:spcPct val="150000"/>
              </a:lnSpc>
              <a:buFont typeface="Arial" panose="020B0604020202020204" pitchFamily="34" charset="0"/>
              <a:buChar char="•"/>
            </a:pPr>
            <a:r>
              <a:rPr lang="ar-SA" dirty="0"/>
              <a:t>تشغيل الأجهزة: التحكم بالمخرجات مثل المحركات أو الإشارات الضوئي</a:t>
            </a:r>
            <a:r>
              <a:rPr lang="ar-YE" dirty="0"/>
              <a:t>ة</a:t>
            </a:r>
            <a:r>
              <a:rPr lang="en-US" dirty="0"/>
              <a:t>.</a:t>
            </a:r>
          </a:p>
        </p:txBody>
      </p:sp>
    </p:spTree>
    <p:extLst>
      <p:ext uri="{BB962C8B-B14F-4D97-AF65-F5344CB8AC3E}">
        <p14:creationId xmlns:p14="http://schemas.microsoft.com/office/powerpoint/2010/main" val="1984968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030C6-387F-B54D-B5B1-E482A35C2D48}"/>
              </a:ext>
            </a:extLst>
          </p:cNvPr>
          <p:cNvSpPr>
            <a:spLocks noGrp="1"/>
          </p:cNvSpPr>
          <p:nvPr>
            <p:ph type="title"/>
          </p:nvPr>
        </p:nvSpPr>
        <p:spPr/>
        <p:txBody>
          <a:bodyPr/>
          <a:lstStyle/>
          <a:p>
            <a:pPr algn="ctr" rtl="1"/>
            <a:r>
              <a:rPr lang="ar-SA" b="1" dirty="0"/>
              <a:t>القطع المستخدمة</a:t>
            </a:r>
            <a:endParaRPr lang="en-US" dirty="0"/>
          </a:p>
        </p:txBody>
      </p:sp>
      <p:sp>
        <p:nvSpPr>
          <p:cNvPr id="3" name="Content Placeholder 2">
            <a:extLst>
              <a:ext uri="{FF2B5EF4-FFF2-40B4-BE49-F238E27FC236}">
                <a16:creationId xmlns:a16="http://schemas.microsoft.com/office/drawing/2014/main" id="{B326486D-F67F-7A4E-8BDB-2C79194BA618}"/>
              </a:ext>
            </a:extLst>
          </p:cNvPr>
          <p:cNvSpPr>
            <a:spLocks noGrp="1"/>
          </p:cNvSpPr>
          <p:nvPr>
            <p:ph idx="1"/>
          </p:nvPr>
        </p:nvSpPr>
        <p:spPr/>
        <p:txBody>
          <a:bodyPr>
            <a:normAutofit/>
          </a:bodyPr>
          <a:lstStyle/>
          <a:p>
            <a:pPr algn="r" rtl="1">
              <a:lnSpc>
                <a:spcPct val="150000"/>
              </a:lnSpc>
            </a:pPr>
            <a:r>
              <a:rPr lang="en-PH" sz="2000" b="1" dirty="0"/>
              <a:t>ESP8266</a:t>
            </a:r>
            <a:endParaRPr lang="ar-YE" sz="2000" b="1" dirty="0"/>
          </a:p>
          <a:p>
            <a:pPr algn="r" rtl="1">
              <a:lnSpc>
                <a:spcPct val="150000"/>
              </a:lnSpc>
            </a:pPr>
            <a:r>
              <a:rPr lang="en-US" sz="2000" b="1" dirty="0"/>
              <a:t>DHT11</a:t>
            </a:r>
          </a:p>
          <a:p>
            <a:pPr algn="r" rtl="1">
              <a:lnSpc>
                <a:spcPct val="150000"/>
              </a:lnSpc>
            </a:pPr>
            <a:r>
              <a:rPr lang="en-US" sz="2000" b="1" dirty="0"/>
              <a:t>Water Pumper</a:t>
            </a:r>
          </a:p>
          <a:p>
            <a:pPr algn="r" rtl="1">
              <a:lnSpc>
                <a:spcPct val="150000"/>
              </a:lnSpc>
            </a:pPr>
            <a:r>
              <a:rPr lang="en-US" sz="2000" b="1" dirty="0"/>
              <a:t>Relay</a:t>
            </a:r>
          </a:p>
          <a:p>
            <a:pPr algn="r" rtl="1">
              <a:lnSpc>
                <a:spcPct val="150000"/>
              </a:lnSpc>
            </a:pPr>
            <a:r>
              <a:rPr lang="en-US" sz="2000" b="1" dirty="0"/>
              <a:t>Breadboard</a:t>
            </a:r>
            <a:endParaRPr lang="ar-SA" sz="2000" b="1" dirty="0"/>
          </a:p>
          <a:p>
            <a:pPr algn="r" rtl="1">
              <a:lnSpc>
                <a:spcPct val="150000"/>
              </a:lnSpc>
            </a:pPr>
            <a:r>
              <a:rPr lang="ar-YE" sz="2000" b="1" dirty="0"/>
              <a:t>اسلاك توصيل</a:t>
            </a:r>
            <a:endParaRPr lang="ar-SA" sz="2000" b="1" dirty="0"/>
          </a:p>
        </p:txBody>
      </p:sp>
    </p:spTree>
    <p:extLst>
      <p:ext uri="{BB962C8B-B14F-4D97-AF65-F5344CB8AC3E}">
        <p14:creationId xmlns:p14="http://schemas.microsoft.com/office/powerpoint/2010/main" val="2767469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D9D43-513B-F735-3C38-C29DD9636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3DB311-526B-8BFC-967C-EE7408A4478F}"/>
              </a:ext>
            </a:extLst>
          </p:cNvPr>
          <p:cNvSpPr>
            <a:spLocks noGrp="1"/>
          </p:cNvSpPr>
          <p:nvPr>
            <p:ph type="title"/>
          </p:nvPr>
        </p:nvSpPr>
        <p:spPr>
          <a:xfrm>
            <a:off x="1797666" y="2768600"/>
            <a:ext cx="8596668" cy="1320800"/>
          </a:xfrm>
        </p:spPr>
        <p:txBody>
          <a:bodyPr>
            <a:normAutofit/>
          </a:bodyPr>
          <a:lstStyle/>
          <a:p>
            <a:pPr algn="ctr" rtl="1"/>
            <a:r>
              <a:rPr lang="ar-YE" sz="4400" b="1" dirty="0"/>
              <a:t>القطع المستخدمة</a:t>
            </a:r>
            <a:endParaRPr lang="en-US" sz="4400" dirty="0"/>
          </a:p>
        </p:txBody>
      </p:sp>
    </p:spTree>
    <p:extLst>
      <p:ext uri="{BB962C8B-B14F-4D97-AF65-F5344CB8AC3E}">
        <p14:creationId xmlns:p14="http://schemas.microsoft.com/office/powerpoint/2010/main" val="2941481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030C6-387F-B54D-B5B1-E482A35C2D48}"/>
              </a:ext>
            </a:extLst>
          </p:cNvPr>
          <p:cNvSpPr>
            <a:spLocks noGrp="1"/>
          </p:cNvSpPr>
          <p:nvPr>
            <p:ph type="title"/>
          </p:nvPr>
        </p:nvSpPr>
        <p:spPr/>
        <p:txBody>
          <a:bodyPr/>
          <a:lstStyle/>
          <a:p>
            <a:pPr algn="ctr" rtl="1"/>
            <a:r>
              <a:rPr lang="ar-SA" b="1" dirty="0"/>
              <a:t>الأدوات </a:t>
            </a:r>
            <a:r>
              <a:rPr lang="en-US" b="1" dirty="0"/>
              <a:t>ESP8266</a:t>
            </a:r>
            <a:endParaRPr lang="en-US" dirty="0"/>
          </a:p>
        </p:txBody>
      </p:sp>
      <p:pic>
        <p:nvPicPr>
          <p:cNvPr id="9" name="Picture 8">
            <a:extLst>
              <a:ext uri="{FF2B5EF4-FFF2-40B4-BE49-F238E27FC236}">
                <a16:creationId xmlns:a16="http://schemas.microsoft.com/office/drawing/2014/main" id="{59DD8727-41A7-F04F-95D5-358EE35CC3B5}"/>
              </a:ext>
            </a:extLst>
          </p:cNvPr>
          <p:cNvPicPr>
            <a:picLocks noChangeAspect="1"/>
          </p:cNvPicPr>
          <p:nvPr/>
        </p:nvPicPr>
        <p:blipFill>
          <a:blip r:embed="rId2"/>
          <a:stretch>
            <a:fillRect/>
          </a:stretch>
        </p:blipFill>
        <p:spPr>
          <a:xfrm>
            <a:off x="3122762" y="1768680"/>
            <a:ext cx="4486492" cy="2512435"/>
          </a:xfrm>
          <a:prstGeom prst="rect">
            <a:avLst/>
          </a:prstGeom>
        </p:spPr>
      </p:pic>
      <p:sp>
        <p:nvSpPr>
          <p:cNvPr id="4" name="TextBox 3">
            <a:extLst>
              <a:ext uri="{FF2B5EF4-FFF2-40B4-BE49-F238E27FC236}">
                <a16:creationId xmlns:a16="http://schemas.microsoft.com/office/drawing/2014/main" id="{5C133E16-45F4-82C1-E870-304926678806}"/>
              </a:ext>
            </a:extLst>
          </p:cNvPr>
          <p:cNvSpPr txBox="1"/>
          <p:nvPr/>
        </p:nvSpPr>
        <p:spPr>
          <a:xfrm>
            <a:off x="1388853" y="4591244"/>
            <a:ext cx="8134709" cy="1697901"/>
          </a:xfrm>
          <a:prstGeom prst="rect">
            <a:avLst/>
          </a:prstGeom>
          <a:noFill/>
        </p:spPr>
        <p:txBody>
          <a:bodyPr wrap="square">
            <a:spAutoFit/>
          </a:bodyPr>
          <a:lstStyle/>
          <a:p>
            <a:pPr lvl="2" algn="r" rtl="1">
              <a:lnSpc>
                <a:spcPct val="150000"/>
              </a:lnSpc>
            </a:pPr>
            <a:r>
              <a:rPr lang="ar-SA" dirty="0"/>
              <a:t>يعمل</a:t>
            </a:r>
            <a:r>
              <a:rPr lang="en-US" dirty="0"/>
              <a:t> ESP8266 </a:t>
            </a:r>
            <a:r>
              <a:rPr lang="ar-SA" dirty="0"/>
              <a:t>كمتحكم رئيسي في النظام. يقوم بجمع البيانات من المستشعرات (مثل درجة الحرارة والرطوبة)، ثم يرسلها عبر </a:t>
            </a:r>
            <a:r>
              <a:rPr lang="ar-SA" dirty="0" err="1"/>
              <a:t>الواي</a:t>
            </a:r>
            <a:r>
              <a:rPr lang="ar-SA" dirty="0"/>
              <a:t> </a:t>
            </a:r>
            <a:r>
              <a:rPr lang="ar-SA" dirty="0" err="1"/>
              <a:t>فاي</a:t>
            </a:r>
            <a:r>
              <a:rPr lang="ar-SA" dirty="0"/>
              <a:t> إلى منصة التحكم (مثل تطبيق على الهاتف أو خادم سحابي). كما يمكنه تلقي أوامر من الهاتف لتشغيل المضخة أو أي جهاز آخر متصل.</a:t>
            </a:r>
          </a:p>
        </p:txBody>
      </p:sp>
    </p:spTree>
    <p:extLst>
      <p:ext uri="{BB962C8B-B14F-4D97-AF65-F5344CB8AC3E}">
        <p14:creationId xmlns:p14="http://schemas.microsoft.com/office/powerpoint/2010/main" val="1864850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030C6-387F-B54D-B5B1-E482A35C2D48}"/>
              </a:ext>
            </a:extLst>
          </p:cNvPr>
          <p:cNvSpPr>
            <a:spLocks noGrp="1"/>
          </p:cNvSpPr>
          <p:nvPr>
            <p:ph type="title"/>
          </p:nvPr>
        </p:nvSpPr>
        <p:spPr>
          <a:xfrm>
            <a:off x="1797665" y="623977"/>
            <a:ext cx="8596668" cy="1320800"/>
          </a:xfrm>
        </p:spPr>
        <p:txBody>
          <a:bodyPr/>
          <a:lstStyle/>
          <a:p>
            <a:pPr algn="ctr" rtl="1"/>
            <a:r>
              <a:rPr lang="en-US" b="1" dirty="0"/>
              <a:t>DHT11</a:t>
            </a:r>
            <a:endParaRPr lang="en-US" dirty="0"/>
          </a:p>
        </p:txBody>
      </p:sp>
      <p:pic>
        <p:nvPicPr>
          <p:cNvPr id="4" name="Picture 3">
            <a:extLst>
              <a:ext uri="{FF2B5EF4-FFF2-40B4-BE49-F238E27FC236}">
                <a16:creationId xmlns:a16="http://schemas.microsoft.com/office/drawing/2014/main" id="{4E846446-0AF1-A349-861E-3E3DED746E8C}"/>
              </a:ext>
            </a:extLst>
          </p:cNvPr>
          <p:cNvPicPr>
            <a:picLocks noChangeAspect="1"/>
          </p:cNvPicPr>
          <p:nvPr/>
        </p:nvPicPr>
        <p:blipFill>
          <a:blip r:embed="rId2"/>
          <a:stretch>
            <a:fillRect/>
          </a:stretch>
        </p:blipFill>
        <p:spPr>
          <a:xfrm>
            <a:off x="5004293" y="1499796"/>
            <a:ext cx="2424951" cy="2769833"/>
          </a:xfrm>
          <a:prstGeom prst="rect">
            <a:avLst/>
          </a:prstGeom>
        </p:spPr>
      </p:pic>
      <p:sp>
        <p:nvSpPr>
          <p:cNvPr id="5" name="TextBox 4">
            <a:extLst>
              <a:ext uri="{FF2B5EF4-FFF2-40B4-BE49-F238E27FC236}">
                <a16:creationId xmlns:a16="http://schemas.microsoft.com/office/drawing/2014/main" id="{57FDE7A4-EF8F-2A6E-4630-F61721AA70F1}"/>
              </a:ext>
            </a:extLst>
          </p:cNvPr>
          <p:cNvSpPr txBox="1"/>
          <p:nvPr/>
        </p:nvSpPr>
        <p:spPr>
          <a:xfrm>
            <a:off x="1526875" y="4301504"/>
            <a:ext cx="7850038" cy="2113399"/>
          </a:xfrm>
          <a:prstGeom prst="rect">
            <a:avLst/>
          </a:prstGeom>
          <a:noFill/>
        </p:spPr>
        <p:txBody>
          <a:bodyPr wrap="square">
            <a:spAutoFit/>
          </a:bodyPr>
          <a:lstStyle/>
          <a:p>
            <a:pPr algn="r" rtl="1">
              <a:lnSpc>
                <a:spcPct val="150000"/>
              </a:lnSpc>
            </a:pPr>
            <a:r>
              <a:rPr lang="ar-SA" dirty="0"/>
              <a:t>المستشعر </a:t>
            </a:r>
            <a:r>
              <a:rPr lang="en-US" dirty="0"/>
              <a:t> DHT11</a:t>
            </a:r>
            <a:r>
              <a:rPr lang="ar-SA" dirty="0"/>
              <a:t>هو المسؤول عن قياس درجة الحرارة والرطوبة في البيئة المحيطة. يتم توصيله باستخدام ثلاثة منافذ: </a:t>
            </a:r>
            <a:r>
              <a:rPr lang="en-US" b="1" dirty="0"/>
              <a:t>VCC</a:t>
            </a:r>
            <a:r>
              <a:rPr lang="en-US" dirty="0"/>
              <a:t> </a:t>
            </a:r>
            <a:r>
              <a:rPr lang="ar-SA" dirty="0"/>
              <a:t>لتوصيل الطاقة (3.3</a:t>
            </a:r>
            <a:r>
              <a:rPr lang="en-US" dirty="0"/>
              <a:t>V </a:t>
            </a:r>
            <a:r>
              <a:rPr lang="ar-SA" dirty="0"/>
              <a:t>أو 5</a:t>
            </a:r>
            <a:r>
              <a:rPr lang="en-US" dirty="0"/>
              <a:t>V </a:t>
            </a:r>
            <a:r>
              <a:rPr lang="ar-SA" dirty="0"/>
              <a:t>من </a:t>
            </a:r>
            <a:r>
              <a:rPr lang="en-US" dirty="0"/>
              <a:t>ESP8266)، </a:t>
            </a:r>
            <a:r>
              <a:rPr lang="en-US" b="1" dirty="0"/>
              <a:t>GND</a:t>
            </a:r>
            <a:r>
              <a:rPr lang="en-US" dirty="0"/>
              <a:t> </a:t>
            </a:r>
            <a:r>
              <a:rPr lang="ar-SA" dirty="0"/>
              <a:t>لتوصيل الأرضي، و</a:t>
            </a:r>
            <a:r>
              <a:rPr lang="en-US" b="1" dirty="0"/>
              <a:t>DATA</a:t>
            </a:r>
            <a:r>
              <a:rPr lang="en-US" dirty="0"/>
              <a:t> </a:t>
            </a:r>
            <a:r>
              <a:rPr lang="ar-SA" dirty="0"/>
              <a:t>لإرسال البيانات إلى منفذ رقمي (مثل </a:t>
            </a:r>
            <a:r>
              <a:rPr lang="en-US" dirty="0"/>
              <a:t>D2) </a:t>
            </a:r>
            <a:r>
              <a:rPr lang="ar-SA" dirty="0"/>
              <a:t>في </a:t>
            </a:r>
            <a:r>
              <a:rPr lang="en-US" dirty="0"/>
              <a:t>ESP8266. </a:t>
            </a:r>
            <a:r>
              <a:rPr lang="ar-SA" dirty="0"/>
              <a:t>يساعد هذا المستشعر في معرفة ظروف البيئة لتحديد ما إذا كانت النباتات تحتاج إلى ري.</a:t>
            </a:r>
          </a:p>
        </p:txBody>
      </p:sp>
    </p:spTree>
    <p:extLst>
      <p:ext uri="{BB962C8B-B14F-4D97-AF65-F5344CB8AC3E}">
        <p14:creationId xmlns:p14="http://schemas.microsoft.com/office/powerpoint/2010/main" val="2408054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332C7-6589-0ABC-B709-3A48666BD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EEB46-8BB2-1568-1213-18BEA890CDB0}"/>
              </a:ext>
            </a:extLst>
          </p:cNvPr>
          <p:cNvSpPr>
            <a:spLocks noGrp="1"/>
          </p:cNvSpPr>
          <p:nvPr>
            <p:ph type="title"/>
          </p:nvPr>
        </p:nvSpPr>
        <p:spPr/>
        <p:txBody>
          <a:bodyPr/>
          <a:lstStyle/>
          <a:p>
            <a:pPr algn="ctr" rtl="1"/>
            <a:r>
              <a:rPr lang="en-US" b="1" dirty="0"/>
              <a:t>Water Pumper</a:t>
            </a:r>
            <a:endParaRPr lang="en-US" dirty="0"/>
          </a:p>
        </p:txBody>
      </p:sp>
      <p:pic>
        <p:nvPicPr>
          <p:cNvPr id="4" name="Picture 3">
            <a:extLst>
              <a:ext uri="{FF2B5EF4-FFF2-40B4-BE49-F238E27FC236}">
                <a16:creationId xmlns:a16="http://schemas.microsoft.com/office/drawing/2014/main" id="{3B1CB25C-6697-46A8-09E9-8DC4BE585B59}"/>
              </a:ext>
            </a:extLst>
          </p:cNvPr>
          <p:cNvPicPr>
            <a:picLocks noChangeAspect="1"/>
          </p:cNvPicPr>
          <p:nvPr/>
        </p:nvPicPr>
        <p:blipFill>
          <a:blip r:embed="rId2"/>
          <a:srcRect/>
          <a:stretch/>
        </p:blipFill>
        <p:spPr>
          <a:xfrm>
            <a:off x="4053186" y="1270000"/>
            <a:ext cx="2857500" cy="2857500"/>
          </a:xfrm>
          <a:prstGeom prst="rect">
            <a:avLst/>
          </a:prstGeom>
        </p:spPr>
      </p:pic>
      <p:sp>
        <p:nvSpPr>
          <p:cNvPr id="5" name="TextBox 4">
            <a:extLst>
              <a:ext uri="{FF2B5EF4-FFF2-40B4-BE49-F238E27FC236}">
                <a16:creationId xmlns:a16="http://schemas.microsoft.com/office/drawing/2014/main" id="{6791C65A-E9E8-EF6A-AFDC-826FDD52E323}"/>
              </a:ext>
            </a:extLst>
          </p:cNvPr>
          <p:cNvSpPr txBox="1"/>
          <p:nvPr/>
        </p:nvSpPr>
        <p:spPr>
          <a:xfrm>
            <a:off x="1069676" y="4050438"/>
            <a:ext cx="8204326" cy="1702454"/>
          </a:xfrm>
          <a:prstGeom prst="rect">
            <a:avLst/>
          </a:prstGeom>
          <a:noFill/>
        </p:spPr>
        <p:txBody>
          <a:bodyPr wrap="square">
            <a:spAutoFit/>
          </a:bodyPr>
          <a:lstStyle/>
          <a:p>
            <a:pPr algn="r" rtl="1">
              <a:lnSpc>
                <a:spcPct val="150000"/>
              </a:lnSpc>
            </a:pPr>
            <a:r>
              <a:rPr lang="ar-SA" dirty="0"/>
              <a:t>مضخة المياه هي الجهاز الذي يضخ المياه إلى النباتات. يتم توصيلها بوحدة </a:t>
            </a:r>
            <a:r>
              <a:rPr lang="ar-SA" dirty="0" err="1"/>
              <a:t>الريلاي</a:t>
            </a:r>
            <a:r>
              <a:rPr lang="ar-SA" dirty="0"/>
              <a:t> للتحكم في تشغيلها أو إيقافها. يتم توصيل سلك الطاقة السالب الخاص بالمضخة بمنفذ </a:t>
            </a:r>
            <a:r>
              <a:rPr lang="en-US" b="1" dirty="0"/>
              <a:t>COM</a:t>
            </a:r>
            <a:r>
              <a:rPr lang="en-US" dirty="0"/>
              <a:t> (Common) </a:t>
            </a:r>
            <a:r>
              <a:rPr lang="ar-SA" dirty="0"/>
              <a:t>في </a:t>
            </a:r>
            <a:r>
              <a:rPr lang="ar-SA" dirty="0" err="1"/>
              <a:t>الريلاي</a:t>
            </a:r>
            <a:r>
              <a:rPr lang="ar-SA" dirty="0"/>
              <a:t>، وسلك الطاقة الموجب بمنفذ </a:t>
            </a:r>
            <a:r>
              <a:rPr lang="en-US" b="1" dirty="0"/>
              <a:t>NO</a:t>
            </a:r>
            <a:r>
              <a:rPr lang="en-US" dirty="0"/>
              <a:t> (Normally Open)، </a:t>
            </a:r>
            <a:r>
              <a:rPr lang="ar-SA" dirty="0"/>
              <a:t>مما يسمح </a:t>
            </a:r>
            <a:r>
              <a:rPr lang="ar-SA" dirty="0" err="1"/>
              <a:t>للريلاي</a:t>
            </a:r>
            <a:r>
              <a:rPr lang="ar-SA" dirty="0"/>
              <a:t> بتشغيل أو قطع التيار الكهربائي حسب أوامر </a:t>
            </a:r>
            <a:r>
              <a:rPr lang="en-US" dirty="0"/>
              <a:t>ESP8266.</a:t>
            </a:r>
          </a:p>
        </p:txBody>
      </p:sp>
    </p:spTree>
    <p:extLst>
      <p:ext uri="{BB962C8B-B14F-4D97-AF65-F5344CB8AC3E}">
        <p14:creationId xmlns:p14="http://schemas.microsoft.com/office/powerpoint/2010/main" val="25557393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50B15-CE40-5D05-9454-13C1545A7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2D6D8-FFA8-6621-A853-EF5F329FEA9E}"/>
              </a:ext>
            </a:extLst>
          </p:cNvPr>
          <p:cNvSpPr>
            <a:spLocks noGrp="1"/>
          </p:cNvSpPr>
          <p:nvPr>
            <p:ph type="title"/>
          </p:nvPr>
        </p:nvSpPr>
        <p:spPr/>
        <p:txBody>
          <a:bodyPr/>
          <a:lstStyle/>
          <a:p>
            <a:pPr algn="ctr" rtl="1"/>
            <a:r>
              <a:rPr lang="en-US" b="1" dirty="0"/>
              <a:t>Jumper Wires</a:t>
            </a:r>
            <a:endParaRPr lang="en-US" dirty="0"/>
          </a:p>
        </p:txBody>
      </p:sp>
      <p:pic>
        <p:nvPicPr>
          <p:cNvPr id="4" name="Picture 3">
            <a:extLst>
              <a:ext uri="{FF2B5EF4-FFF2-40B4-BE49-F238E27FC236}">
                <a16:creationId xmlns:a16="http://schemas.microsoft.com/office/drawing/2014/main" id="{5FC370C1-B05C-F8A1-A32A-29BD447094C1}"/>
              </a:ext>
            </a:extLst>
          </p:cNvPr>
          <p:cNvPicPr>
            <a:picLocks noChangeAspect="1"/>
          </p:cNvPicPr>
          <p:nvPr/>
        </p:nvPicPr>
        <p:blipFill>
          <a:blip r:embed="rId2"/>
          <a:srcRect/>
          <a:stretch/>
        </p:blipFill>
        <p:spPr>
          <a:xfrm>
            <a:off x="3481968" y="1400880"/>
            <a:ext cx="2857500" cy="2857500"/>
          </a:xfrm>
          <a:prstGeom prst="rect">
            <a:avLst/>
          </a:prstGeom>
        </p:spPr>
      </p:pic>
      <p:sp>
        <p:nvSpPr>
          <p:cNvPr id="5" name="TextBox 4">
            <a:extLst>
              <a:ext uri="{FF2B5EF4-FFF2-40B4-BE49-F238E27FC236}">
                <a16:creationId xmlns:a16="http://schemas.microsoft.com/office/drawing/2014/main" id="{64D2D00F-D337-E3C9-8895-BFE6A2912CB2}"/>
              </a:ext>
            </a:extLst>
          </p:cNvPr>
          <p:cNvSpPr txBox="1"/>
          <p:nvPr/>
        </p:nvSpPr>
        <p:spPr>
          <a:xfrm>
            <a:off x="1509623" y="4258380"/>
            <a:ext cx="7637690" cy="2113399"/>
          </a:xfrm>
          <a:prstGeom prst="rect">
            <a:avLst/>
          </a:prstGeom>
          <a:noFill/>
        </p:spPr>
        <p:txBody>
          <a:bodyPr wrap="square">
            <a:spAutoFit/>
          </a:bodyPr>
          <a:lstStyle/>
          <a:p>
            <a:pPr algn="r" rtl="1">
              <a:lnSpc>
                <a:spcPct val="150000"/>
              </a:lnSpc>
            </a:pPr>
            <a:r>
              <a:rPr lang="ar-SA" dirty="0"/>
              <a:t>أسلاك التوصيل هي الوسيلة التي تُستخدم لتوصيل جميع المكونات ببعضها البعض. يمكن أن تكون ذكر-ذكر (</a:t>
            </a:r>
            <a:r>
              <a:rPr lang="en-US" dirty="0"/>
              <a:t>Male-to-Male)، </a:t>
            </a:r>
            <a:r>
              <a:rPr lang="ar-SA" dirty="0"/>
              <a:t>أنثى-أنثى (</a:t>
            </a:r>
            <a:r>
              <a:rPr lang="en-US" dirty="0"/>
              <a:t>Female-to-Female)، </a:t>
            </a:r>
            <a:r>
              <a:rPr lang="ar-SA" dirty="0"/>
              <a:t>أو ذكر-أنثى (</a:t>
            </a:r>
            <a:r>
              <a:rPr lang="en-US" dirty="0"/>
              <a:t>Male-to-Female)، </a:t>
            </a:r>
            <a:r>
              <a:rPr lang="ar-SA" dirty="0"/>
              <a:t>حسب المنافذ المستخدمة في المكونات. يتم استخدامها لتوصيل المستشعرات، </a:t>
            </a:r>
            <a:r>
              <a:rPr lang="en-US" dirty="0"/>
              <a:t>ESP8266، </a:t>
            </a:r>
            <a:r>
              <a:rPr lang="ar-SA" dirty="0" err="1"/>
              <a:t>الريلاي</a:t>
            </a:r>
            <a:r>
              <a:rPr lang="ar-SA" dirty="0"/>
              <a:t>، والمضخة عبر </a:t>
            </a:r>
            <a:r>
              <a:rPr lang="ar-SA" dirty="0" err="1"/>
              <a:t>البردبورد</a:t>
            </a:r>
            <a:r>
              <a:rPr lang="ar-SA" dirty="0"/>
              <a:t> بطريقة مرتبة وآمنة.</a:t>
            </a:r>
          </a:p>
        </p:txBody>
      </p:sp>
    </p:spTree>
    <p:extLst>
      <p:ext uri="{BB962C8B-B14F-4D97-AF65-F5344CB8AC3E}">
        <p14:creationId xmlns:p14="http://schemas.microsoft.com/office/powerpoint/2010/main" val="2883058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D123A-4E9E-59D6-DC64-71A5080C4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6BBD1-87DA-ADB9-6A6A-C7712E3E5FB1}"/>
              </a:ext>
            </a:extLst>
          </p:cNvPr>
          <p:cNvSpPr>
            <a:spLocks noGrp="1"/>
          </p:cNvSpPr>
          <p:nvPr>
            <p:ph type="title"/>
          </p:nvPr>
        </p:nvSpPr>
        <p:spPr/>
        <p:txBody>
          <a:bodyPr/>
          <a:lstStyle/>
          <a:p>
            <a:pPr algn="ctr" rtl="1"/>
            <a:r>
              <a:rPr lang="en-US" b="1" dirty="0"/>
              <a:t>Jumper Wires</a:t>
            </a:r>
            <a:endParaRPr lang="en-US" dirty="0"/>
          </a:p>
        </p:txBody>
      </p:sp>
      <p:pic>
        <p:nvPicPr>
          <p:cNvPr id="4" name="Picture 3">
            <a:extLst>
              <a:ext uri="{FF2B5EF4-FFF2-40B4-BE49-F238E27FC236}">
                <a16:creationId xmlns:a16="http://schemas.microsoft.com/office/drawing/2014/main" id="{9A9D1AE9-219A-6620-C297-EF9F70875EEF}"/>
              </a:ext>
            </a:extLst>
          </p:cNvPr>
          <p:cNvPicPr>
            <a:picLocks noChangeAspect="1"/>
          </p:cNvPicPr>
          <p:nvPr/>
        </p:nvPicPr>
        <p:blipFill>
          <a:blip r:embed="rId2"/>
          <a:srcRect/>
          <a:stretch/>
        </p:blipFill>
        <p:spPr>
          <a:xfrm>
            <a:off x="3481968" y="1758068"/>
            <a:ext cx="2857500" cy="2143124"/>
          </a:xfrm>
          <a:prstGeom prst="rect">
            <a:avLst/>
          </a:prstGeom>
        </p:spPr>
      </p:pic>
      <p:sp>
        <p:nvSpPr>
          <p:cNvPr id="5" name="TextBox 4">
            <a:extLst>
              <a:ext uri="{FF2B5EF4-FFF2-40B4-BE49-F238E27FC236}">
                <a16:creationId xmlns:a16="http://schemas.microsoft.com/office/drawing/2014/main" id="{42EE9491-A9A9-1F87-1F05-DC38D0AD7798}"/>
              </a:ext>
            </a:extLst>
          </p:cNvPr>
          <p:cNvSpPr txBox="1"/>
          <p:nvPr/>
        </p:nvSpPr>
        <p:spPr>
          <a:xfrm>
            <a:off x="1509623" y="4258380"/>
            <a:ext cx="7637690" cy="1697901"/>
          </a:xfrm>
          <a:prstGeom prst="rect">
            <a:avLst/>
          </a:prstGeom>
          <a:noFill/>
        </p:spPr>
        <p:txBody>
          <a:bodyPr wrap="square">
            <a:spAutoFit/>
          </a:bodyPr>
          <a:lstStyle/>
          <a:p>
            <a:pPr algn="r" rtl="1">
              <a:lnSpc>
                <a:spcPct val="150000"/>
              </a:lnSpc>
            </a:pPr>
            <a:r>
              <a:rPr lang="ar-SA" dirty="0" err="1"/>
              <a:t>البردبورد</a:t>
            </a:r>
            <a:r>
              <a:rPr lang="ar-SA" dirty="0"/>
              <a:t> هو منصة توصيل مؤقتة تُستخدم لتركيب المكونات مثل </a:t>
            </a:r>
            <a:r>
              <a:rPr lang="en-US" dirty="0"/>
              <a:t>ESP8266، DHT11، </a:t>
            </a:r>
            <a:r>
              <a:rPr lang="ar-SA" dirty="0" err="1"/>
              <a:t>والريلاي</a:t>
            </a:r>
            <a:r>
              <a:rPr lang="ar-SA" dirty="0"/>
              <a:t> بدون الحاجة إلى لحام. يتم توصيل المكونات عبر أسلاك توصيل (</a:t>
            </a:r>
            <a:r>
              <a:rPr lang="en-US" dirty="0"/>
              <a:t> Jumper Wires) </a:t>
            </a:r>
            <a:r>
              <a:rPr lang="ar-SA" dirty="0"/>
              <a:t>باستخدام صفوف وأعمدة </a:t>
            </a:r>
            <a:r>
              <a:rPr lang="ar-SA" dirty="0" err="1"/>
              <a:t>البردبورد</a:t>
            </a:r>
            <a:r>
              <a:rPr lang="ar-SA" dirty="0"/>
              <a:t>، حيث تتيح تنظيم التوصيلات بشكل مرتب وسهل التعديل أثناء بناء النظام.</a:t>
            </a:r>
          </a:p>
        </p:txBody>
      </p:sp>
    </p:spTree>
    <p:extLst>
      <p:ext uri="{BB962C8B-B14F-4D97-AF65-F5344CB8AC3E}">
        <p14:creationId xmlns:p14="http://schemas.microsoft.com/office/powerpoint/2010/main" val="37815602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A9712-AF05-940B-E2DA-DC5A6169B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FAE67-FC8C-317C-B996-EDF3E7F50C65}"/>
              </a:ext>
            </a:extLst>
          </p:cNvPr>
          <p:cNvSpPr>
            <a:spLocks noGrp="1"/>
          </p:cNvSpPr>
          <p:nvPr>
            <p:ph type="title"/>
          </p:nvPr>
        </p:nvSpPr>
        <p:spPr/>
        <p:txBody>
          <a:bodyPr/>
          <a:lstStyle/>
          <a:p>
            <a:pPr algn="ctr" rtl="1"/>
            <a:r>
              <a:rPr lang="en-US" b="1" dirty="0"/>
              <a:t>Soil Moisture Sensor</a:t>
            </a:r>
            <a:endParaRPr lang="en-US" dirty="0"/>
          </a:p>
        </p:txBody>
      </p:sp>
      <p:pic>
        <p:nvPicPr>
          <p:cNvPr id="4" name="Picture 3">
            <a:extLst>
              <a:ext uri="{FF2B5EF4-FFF2-40B4-BE49-F238E27FC236}">
                <a16:creationId xmlns:a16="http://schemas.microsoft.com/office/drawing/2014/main" id="{BEB8DDD7-D499-F7A0-A2D2-38E1AEDB858E}"/>
              </a:ext>
            </a:extLst>
          </p:cNvPr>
          <p:cNvPicPr>
            <a:picLocks noChangeAspect="1"/>
          </p:cNvPicPr>
          <p:nvPr/>
        </p:nvPicPr>
        <p:blipFill>
          <a:blip r:embed="rId2"/>
          <a:srcRect l="15561" t="21254" r="14834" b="12184"/>
          <a:stretch/>
        </p:blipFill>
        <p:spPr>
          <a:xfrm>
            <a:off x="4682289" y="1270000"/>
            <a:ext cx="2827421" cy="2703816"/>
          </a:xfrm>
          <a:prstGeom prst="rect">
            <a:avLst/>
          </a:prstGeom>
        </p:spPr>
      </p:pic>
      <p:sp>
        <p:nvSpPr>
          <p:cNvPr id="5" name="TextBox 4">
            <a:extLst>
              <a:ext uri="{FF2B5EF4-FFF2-40B4-BE49-F238E27FC236}">
                <a16:creationId xmlns:a16="http://schemas.microsoft.com/office/drawing/2014/main" id="{233E2D09-FD3C-235B-912F-680B63A5DF19}"/>
              </a:ext>
            </a:extLst>
          </p:cNvPr>
          <p:cNvSpPr txBox="1"/>
          <p:nvPr/>
        </p:nvSpPr>
        <p:spPr>
          <a:xfrm>
            <a:off x="236306" y="3796043"/>
            <a:ext cx="9195369" cy="2533450"/>
          </a:xfrm>
          <a:prstGeom prst="rect">
            <a:avLst/>
          </a:prstGeom>
          <a:noFill/>
        </p:spPr>
        <p:txBody>
          <a:bodyPr wrap="square">
            <a:spAutoFit/>
          </a:bodyPr>
          <a:lstStyle/>
          <a:p>
            <a:pPr algn="r" rtl="1">
              <a:lnSpc>
                <a:spcPct val="150000"/>
              </a:lnSpc>
            </a:pPr>
            <a:r>
              <a:rPr lang="ar-SA" dirty="0"/>
              <a:t>مستشعر رطوبة التربة هو جهاز يُستخدم لقياس مستوى الرطوبة في التربة، مما يساعد على مراقبة حالة التربة ومعرفة ما إذا كانت بحاجة إلى ري. يتكون المستشعر عادة من مجسين (</a:t>
            </a:r>
            <a:r>
              <a:rPr lang="en-US" dirty="0"/>
              <a:t>Probes) </a:t>
            </a:r>
            <a:r>
              <a:rPr lang="ar-SA" dirty="0"/>
              <a:t>يتم إدخالهما في التربة لقياس المقاومة الكهربائية أو التوصيل بينهما، حيث تكون القراءة أعلى في التربة الجافة وأقل في التربة الرطبة. يتم توصيل مستشعر رطوبة التربة عبر منصات مثل </a:t>
            </a:r>
            <a:r>
              <a:rPr lang="ar-SA" dirty="0" err="1"/>
              <a:t>البردبورد</a:t>
            </a:r>
            <a:r>
              <a:rPr lang="ar-SA" dirty="0"/>
              <a:t> باستخدام أسلاك توصيل (</a:t>
            </a:r>
            <a:r>
              <a:rPr lang="en-US" dirty="0"/>
              <a:t>Jumper Wires)، </a:t>
            </a:r>
            <a:r>
              <a:rPr lang="ar-SA" dirty="0"/>
              <a:t>ويمكن استخدامه مع وحدات مثل </a:t>
            </a:r>
            <a:r>
              <a:rPr lang="en-US" dirty="0"/>
              <a:t>Arduino </a:t>
            </a:r>
            <a:r>
              <a:rPr lang="ar-SA" dirty="0"/>
              <a:t>أو </a:t>
            </a:r>
            <a:r>
              <a:rPr lang="en-US" dirty="0"/>
              <a:t>ESP8266 </a:t>
            </a:r>
            <a:r>
              <a:rPr lang="ar-SA" dirty="0"/>
              <a:t>لعرض البيانات أو تشغيل أنظمة ري تلقائية بناءً على مستوى الرطوبة.</a:t>
            </a:r>
          </a:p>
        </p:txBody>
      </p:sp>
    </p:spTree>
    <p:extLst>
      <p:ext uri="{BB962C8B-B14F-4D97-AF65-F5344CB8AC3E}">
        <p14:creationId xmlns:p14="http://schemas.microsoft.com/office/powerpoint/2010/main" val="8162570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A9F5C-8B34-F7A9-27E2-E7BF86338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F3D90-82EE-E302-7EAF-1C82C904C5B0}"/>
              </a:ext>
            </a:extLst>
          </p:cNvPr>
          <p:cNvSpPr>
            <a:spLocks noGrp="1"/>
          </p:cNvSpPr>
          <p:nvPr>
            <p:ph type="title"/>
          </p:nvPr>
        </p:nvSpPr>
        <p:spPr/>
        <p:txBody>
          <a:bodyPr/>
          <a:lstStyle/>
          <a:p>
            <a:pPr algn="ctr" rtl="1"/>
            <a:r>
              <a:rPr lang="en-US" b="1" dirty="0"/>
              <a:t>Relay</a:t>
            </a:r>
            <a:endParaRPr lang="en-US" dirty="0"/>
          </a:p>
        </p:txBody>
      </p:sp>
      <p:pic>
        <p:nvPicPr>
          <p:cNvPr id="4" name="Picture 3">
            <a:extLst>
              <a:ext uri="{FF2B5EF4-FFF2-40B4-BE49-F238E27FC236}">
                <a16:creationId xmlns:a16="http://schemas.microsoft.com/office/drawing/2014/main" id="{661529EC-BF28-2A55-93D1-1A797968FA09}"/>
              </a:ext>
            </a:extLst>
          </p:cNvPr>
          <p:cNvPicPr>
            <a:picLocks noChangeAspect="1"/>
          </p:cNvPicPr>
          <p:nvPr/>
        </p:nvPicPr>
        <p:blipFill>
          <a:blip r:embed="rId2"/>
          <a:srcRect t="2186" b="2186"/>
          <a:stretch/>
        </p:blipFill>
        <p:spPr>
          <a:xfrm>
            <a:off x="4682289" y="1270000"/>
            <a:ext cx="2827421" cy="2703816"/>
          </a:xfrm>
          <a:prstGeom prst="rect">
            <a:avLst/>
          </a:prstGeom>
        </p:spPr>
      </p:pic>
      <p:sp>
        <p:nvSpPr>
          <p:cNvPr id="5" name="TextBox 4">
            <a:extLst>
              <a:ext uri="{FF2B5EF4-FFF2-40B4-BE49-F238E27FC236}">
                <a16:creationId xmlns:a16="http://schemas.microsoft.com/office/drawing/2014/main" id="{49EFE011-3433-BD24-EE7D-071BCF72600A}"/>
              </a:ext>
            </a:extLst>
          </p:cNvPr>
          <p:cNvSpPr txBox="1"/>
          <p:nvPr/>
        </p:nvSpPr>
        <p:spPr>
          <a:xfrm>
            <a:off x="236306" y="4078650"/>
            <a:ext cx="9195369" cy="1697901"/>
          </a:xfrm>
          <a:prstGeom prst="rect">
            <a:avLst/>
          </a:prstGeom>
          <a:noFill/>
        </p:spPr>
        <p:txBody>
          <a:bodyPr wrap="square">
            <a:spAutoFit/>
          </a:bodyPr>
          <a:lstStyle/>
          <a:p>
            <a:pPr algn="r" rtl="1">
              <a:lnSpc>
                <a:spcPct val="150000"/>
              </a:lnSpc>
            </a:pPr>
            <a:r>
              <a:rPr lang="ar-SA" dirty="0" err="1"/>
              <a:t>الريلاي</a:t>
            </a:r>
            <a:r>
              <a:rPr lang="ar-SA" dirty="0"/>
              <a:t> هو مكون كهربائي يُستخدم لتشغيل أو إيقاف الأجهزة الكهربائية عبر إشارة كهربائية صغيرة. يعمل كوسيط بين دائرة التحكم ذات الجهد المنخفض، مثل </a:t>
            </a:r>
            <a:r>
              <a:rPr lang="en-US" dirty="0"/>
              <a:t>Arduino، </a:t>
            </a:r>
            <a:r>
              <a:rPr lang="ar-SA" dirty="0"/>
              <a:t>ودائرة التشغيل ذات الجهد العالي، مثل المضخات. يتصل عبر </a:t>
            </a:r>
            <a:r>
              <a:rPr lang="ar-SA" dirty="0" err="1"/>
              <a:t>البردبورد</a:t>
            </a:r>
            <a:r>
              <a:rPr lang="ar-SA" dirty="0"/>
              <a:t> بأسلاك توصيل، ويُستخدم في الأنظمة الذكية مثل تشغيل المضخات تلقائيًا بناءً على مستشعر رطوبة التربة.</a:t>
            </a:r>
          </a:p>
        </p:txBody>
      </p:sp>
    </p:spTree>
    <p:extLst>
      <p:ext uri="{BB962C8B-B14F-4D97-AF65-F5344CB8AC3E}">
        <p14:creationId xmlns:p14="http://schemas.microsoft.com/office/powerpoint/2010/main" val="621715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00B7E-4D69-2435-F489-371FB3D00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41630-F93E-9FDE-3B00-60E892818709}"/>
              </a:ext>
            </a:extLst>
          </p:cNvPr>
          <p:cNvSpPr>
            <a:spLocks noGrp="1"/>
          </p:cNvSpPr>
          <p:nvPr>
            <p:ph type="title"/>
          </p:nvPr>
        </p:nvSpPr>
        <p:spPr>
          <a:xfrm>
            <a:off x="1797666" y="2768600"/>
            <a:ext cx="8596668" cy="1320800"/>
          </a:xfrm>
        </p:spPr>
        <p:txBody>
          <a:bodyPr>
            <a:normAutofit/>
          </a:bodyPr>
          <a:lstStyle/>
          <a:p>
            <a:pPr algn="ctr" rtl="1"/>
            <a:r>
              <a:rPr lang="ar-YE" sz="4400" b="1" dirty="0"/>
              <a:t>التوصيل</a:t>
            </a:r>
            <a:endParaRPr lang="en-US" sz="4400" dirty="0"/>
          </a:p>
        </p:txBody>
      </p:sp>
    </p:spTree>
    <p:extLst>
      <p:ext uri="{BB962C8B-B14F-4D97-AF65-F5344CB8AC3E}">
        <p14:creationId xmlns:p14="http://schemas.microsoft.com/office/powerpoint/2010/main" val="2559843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231B1-B556-0982-32B8-FC44C8FE00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51FB3-903A-C18D-332A-89457B40E5CA}"/>
              </a:ext>
            </a:extLst>
          </p:cNvPr>
          <p:cNvSpPr>
            <a:spLocks noGrp="1"/>
          </p:cNvSpPr>
          <p:nvPr>
            <p:ph type="title"/>
          </p:nvPr>
        </p:nvSpPr>
        <p:spPr/>
        <p:txBody>
          <a:bodyPr/>
          <a:lstStyle/>
          <a:p>
            <a:pPr algn="ctr" rtl="1"/>
            <a:r>
              <a:rPr lang="ar-YE" b="1" dirty="0"/>
              <a:t>توصيل القطع</a:t>
            </a:r>
            <a:endParaRPr lang="en-US" dirty="0"/>
          </a:p>
        </p:txBody>
      </p:sp>
      <p:pic>
        <p:nvPicPr>
          <p:cNvPr id="6" name="Picture 5" descr="A diagram of a circuit board&#10;&#10;Description automatically generated">
            <a:extLst>
              <a:ext uri="{FF2B5EF4-FFF2-40B4-BE49-F238E27FC236}">
                <a16:creationId xmlns:a16="http://schemas.microsoft.com/office/drawing/2014/main" id="{5B18D84F-C63D-8ABC-AFA1-192116B8361B}"/>
              </a:ext>
            </a:extLst>
          </p:cNvPr>
          <p:cNvPicPr>
            <a:picLocks noChangeAspect="1"/>
          </p:cNvPicPr>
          <p:nvPr/>
        </p:nvPicPr>
        <p:blipFill>
          <a:blip r:embed="rId2"/>
          <a:stretch>
            <a:fillRect/>
          </a:stretch>
        </p:blipFill>
        <p:spPr>
          <a:xfrm>
            <a:off x="878672" y="1502891"/>
            <a:ext cx="8395330" cy="4528940"/>
          </a:xfrm>
          <a:prstGeom prst="rect">
            <a:avLst/>
          </a:prstGeom>
        </p:spPr>
      </p:pic>
    </p:spTree>
    <p:extLst>
      <p:ext uri="{BB962C8B-B14F-4D97-AF65-F5344CB8AC3E}">
        <p14:creationId xmlns:p14="http://schemas.microsoft.com/office/powerpoint/2010/main" val="2876266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DF65F-8FB7-642B-1202-1E7BCA3DE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E69DE-EAE4-91B3-05E5-493D7CCE9D4C}"/>
              </a:ext>
            </a:extLst>
          </p:cNvPr>
          <p:cNvSpPr>
            <a:spLocks noGrp="1"/>
          </p:cNvSpPr>
          <p:nvPr>
            <p:ph type="title"/>
          </p:nvPr>
        </p:nvSpPr>
        <p:spPr>
          <a:xfrm>
            <a:off x="1797666" y="2768600"/>
            <a:ext cx="8596668" cy="1320800"/>
          </a:xfrm>
        </p:spPr>
        <p:txBody>
          <a:bodyPr>
            <a:normAutofit/>
          </a:bodyPr>
          <a:lstStyle/>
          <a:p>
            <a:pPr algn="ctr" rtl="1"/>
            <a:r>
              <a:rPr lang="ar-YE" sz="4400" b="1" dirty="0"/>
              <a:t>مرحلة التطوير</a:t>
            </a:r>
            <a:endParaRPr lang="en-US" sz="4400" dirty="0"/>
          </a:p>
        </p:txBody>
      </p:sp>
    </p:spTree>
    <p:extLst>
      <p:ext uri="{BB962C8B-B14F-4D97-AF65-F5344CB8AC3E}">
        <p14:creationId xmlns:p14="http://schemas.microsoft.com/office/powerpoint/2010/main" val="1173814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505FB-EE8C-1808-AD22-4BE773815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85F2F-DADB-A500-4843-C2B87A204E8D}"/>
              </a:ext>
            </a:extLst>
          </p:cNvPr>
          <p:cNvSpPr>
            <a:spLocks noGrp="1"/>
          </p:cNvSpPr>
          <p:nvPr>
            <p:ph type="title"/>
          </p:nvPr>
        </p:nvSpPr>
        <p:spPr/>
        <p:txBody>
          <a:bodyPr/>
          <a:lstStyle/>
          <a:p>
            <a:pPr algn="ctr" rtl="1"/>
            <a:r>
              <a:rPr lang="ar-YE" b="1" dirty="0"/>
              <a:t>قاعدة البيانات</a:t>
            </a:r>
            <a:endParaRPr lang="en-US" dirty="0"/>
          </a:p>
        </p:txBody>
      </p:sp>
      <p:pic>
        <p:nvPicPr>
          <p:cNvPr id="4" name="Picture 3" descr="A screenshot of a computer&#10;&#10;Description automatically generated">
            <a:extLst>
              <a:ext uri="{FF2B5EF4-FFF2-40B4-BE49-F238E27FC236}">
                <a16:creationId xmlns:a16="http://schemas.microsoft.com/office/drawing/2014/main" id="{0A084611-477B-C519-571E-88339949BDF2}"/>
              </a:ext>
            </a:extLst>
          </p:cNvPr>
          <p:cNvPicPr>
            <a:picLocks noChangeAspect="1"/>
          </p:cNvPicPr>
          <p:nvPr/>
        </p:nvPicPr>
        <p:blipFill>
          <a:blip r:embed="rId2"/>
          <a:srcRect r="61513"/>
          <a:stretch/>
        </p:blipFill>
        <p:spPr>
          <a:xfrm>
            <a:off x="3749842" y="1426410"/>
            <a:ext cx="4692316" cy="4522412"/>
          </a:xfrm>
          <a:prstGeom prst="rect">
            <a:avLst/>
          </a:prstGeom>
        </p:spPr>
      </p:pic>
    </p:spTree>
    <p:extLst>
      <p:ext uri="{BB962C8B-B14F-4D97-AF65-F5344CB8AC3E}">
        <p14:creationId xmlns:p14="http://schemas.microsoft.com/office/powerpoint/2010/main" val="2564333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58C2A-1EF7-CCA9-06DE-7F45472C9C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50213-C3F8-7A6A-6E52-96C434D27B5B}"/>
              </a:ext>
            </a:extLst>
          </p:cNvPr>
          <p:cNvSpPr>
            <a:spLocks noGrp="1"/>
          </p:cNvSpPr>
          <p:nvPr>
            <p:ph type="title"/>
          </p:nvPr>
        </p:nvSpPr>
        <p:spPr/>
        <p:txBody>
          <a:bodyPr/>
          <a:lstStyle/>
          <a:p>
            <a:pPr algn="ctr" rtl="1"/>
            <a:r>
              <a:rPr lang="ar-YE" b="1" dirty="0"/>
              <a:t>مرحلة التطوير</a:t>
            </a:r>
            <a:endParaRPr lang="en-US" dirty="0"/>
          </a:p>
        </p:txBody>
      </p:sp>
      <p:sp>
        <p:nvSpPr>
          <p:cNvPr id="5" name="Rectangle 2">
            <a:extLst>
              <a:ext uri="{FF2B5EF4-FFF2-40B4-BE49-F238E27FC236}">
                <a16:creationId xmlns:a16="http://schemas.microsoft.com/office/drawing/2014/main" id="{FFE6D639-0A16-38B6-D05D-6E6404FC764A}"/>
              </a:ext>
            </a:extLst>
          </p:cNvPr>
          <p:cNvSpPr>
            <a:spLocks noChangeArrowheads="1"/>
          </p:cNvSpPr>
          <p:nvPr/>
        </p:nvSpPr>
        <p:spPr bwMode="auto">
          <a:xfrm>
            <a:off x="1397284" y="1336447"/>
            <a:ext cx="8907695" cy="185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50000"/>
              </a:lnSpc>
              <a:spcBef>
                <a:spcPct val="0"/>
              </a:spcBef>
              <a:spcAft>
                <a:spcPct val="0"/>
              </a:spcAft>
              <a:buClrTx/>
              <a:buSzTx/>
              <a:buFontTx/>
              <a:buNone/>
              <a:tabLst/>
            </a:pPr>
            <a:r>
              <a:rPr kumimoji="0" lang="ar-SA"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الاتصال بشبكة</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WiFi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ar-SA"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يتم إعداد اسم الشبكة وكلمة المرور داخل الكود باستخدام</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ar-YE" altLang="en-US" sz="18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50000"/>
              </a:lnSpc>
              <a:spcBef>
                <a:spcPct val="0"/>
              </a:spcBef>
              <a:spcAft>
                <a:spcPct val="0"/>
              </a:spcAft>
              <a:buClrTx/>
              <a:buSzTx/>
              <a:buFontTx/>
              <a:buNone/>
              <a:tabLst/>
            </a:pPr>
            <a:endParaRPr kumimoji="0" lang="ar-YE" altLang="en-US" sz="32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Unicode MS"/>
              </a:rPr>
              <a:t>const char* </a:t>
            </a:r>
            <a:r>
              <a:rPr kumimoji="0" lang="en-US" altLang="en-US" sz="1400" b="0" i="0" u="none" strike="noStrike" cap="none" normalizeH="0" baseline="0" dirty="0" err="1">
                <a:ln>
                  <a:noFill/>
                </a:ln>
                <a:solidFill>
                  <a:schemeClr val="tx1"/>
                </a:solidFill>
                <a:effectLst/>
                <a:latin typeface="Arial Unicode MS"/>
              </a:rPr>
              <a:t>ssid</a:t>
            </a:r>
            <a:r>
              <a:rPr kumimoji="0" lang="en-US" altLang="en-US" sz="1400" b="0" i="0" u="none" strike="noStrike" cap="none" normalizeH="0" baseline="0" dirty="0">
                <a:ln>
                  <a:noFill/>
                </a:ln>
                <a:solidFill>
                  <a:schemeClr val="tx1"/>
                </a:solidFill>
                <a:effectLst/>
                <a:latin typeface="Arial Unicode MS"/>
              </a:rPr>
              <a:t> = “</a:t>
            </a:r>
            <a:r>
              <a:rPr kumimoji="0" lang="en-US" altLang="en-US" sz="1400" b="0" i="0" u="none" strike="noStrike" cap="none" normalizeH="0" baseline="0" dirty="0" err="1">
                <a:ln>
                  <a:noFill/>
                </a:ln>
                <a:solidFill>
                  <a:schemeClr val="tx1"/>
                </a:solidFill>
                <a:effectLst/>
                <a:latin typeface="Arial Unicode MS"/>
              </a:rPr>
              <a:t>abdullah</a:t>
            </a:r>
            <a:r>
              <a:rPr kumimoji="0" lang="en-US" altLang="en-US" sz="1400" b="0" i="0" u="none" strike="noStrike" cap="none" normalizeH="0" baseline="0" dirty="0">
                <a:ln>
                  <a:noFill/>
                </a:ln>
                <a:solidFill>
                  <a:schemeClr val="tx1"/>
                </a:solidFill>
                <a:effectLst/>
                <a:latin typeface="Arial Unicode MS"/>
              </a:rPr>
              <a:t>"; </a:t>
            </a:r>
          </a:p>
          <a:p>
            <a:pPr marL="0" marR="0" lvl="0" indent="0" algn="r" defTabSz="914400" rtl="1"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Unicode MS"/>
              </a:rPr>
              <a:t>const char* password = “12345678";</a:t>
            </a:r>
          </a:p>
        </p:txBody>
      </p:sp>
    </p:spTree>
    <p:extLst>
      <p:ext uri="{BB962C8B-B14F-4D97-AF65-F5344CB8AC3E}">
        <p14:creationId xmlns:p14="http://schemas.microsoft.com/office/powerpoint/2010/main" val="9037923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156E1-87B3-6658-9445-6C1B1B916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E22211-9DDA-9D6E-75A0-605332600F03}"/>
              </a:ext>
            </a:extLst>
          </p:cNvPr>
          <p:cNvSpPr>
            <a:spLocks noGrp="1"/>
          </p:cNvSpPr>
          <p:nvPr>
            <p:ph type="title"/>
          </p:nvPr>
        </p:nvSpPr>
        <p:spPr/>
        <p:txBody>
          <a:bodyPr/>
          <a:lstStyle/>
          <a:p>
            <a:pPr algn="ctr" rtl="1"/>
            <a:r>
              <a:rPr lang="ar-YE" b="1" dirty="0"/>
              <a:t>مرحلة التطوير</a:t>
            </a:r>
            <a:endParaRPr lang="en-US" dirty="0"/>
          </a:p>
        </p:txBody>
      </p:sp>
      <p:sp>
        <p:nvSpPr>
          <p:cNvPr id="5" name="Rectangle 2">
            <a:extLst>
              <a:ext uri="{FF2B5EF4-FFF2-40B4-BE49-F238E27FC236}">
                <a16:creationId xmlns:a16="http://schemas.microsoft.com/office/drawing/2014/main" id="{0275B426-0ABF-21A4-5D90-81A0905D62BF}"/>
              </a:ext>
            </a:extLst>
          </p:cNvPr>
          <p:cNvSpPr>
            <a:spLocks noChangeArrowheads="1"/>
          </p:cNvSpPr>
          <p:nvPr/>
        </p:nvSpPr>
        <p:spPr bwMode="auto">
          <a:xfrm>
            <a:off x="1397284" y="1073713"/>
            <a:ext cx="8907695" cy="2378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50000"/>
              </a:lnSpc>
              <a:spcBef>
                <a:spcPct val="0"/>
              </a:spcBef>
              <a:spcAft>
                <a:spcPct val="0"/>
              </a:spcAft>
              <a:buClrTx/>
              <a:buSzTx/>
              <a:buFontTx/>
              <a:buNone/>
              <a:tabLst/>
            </a:pPr>
            <a:r>
              <a:rPr kumimoji="0" lang="ar-SA"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إعداد الاتصال مع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Firebase</a:t>
            </a:r>
          </a:p>
          <a:p>
            <a:pPr marL="0" marR="0" lvl="0" indent="0" algn="r" defTabSz="914400" rtl="1" eaLnBrk="0" fontAlgn="base" latinLnBrk="0" hangingPunct="0">
              <a:lnSpc>
                <a:spcPct val="150000"/>
              </a:lnSpc>
              <a:spcBef>
                <a:spcPct val="0"/>
              </a:spcBef>
              <a:spcAft>
                <a:spcPct val="0"/>
              </a:spcAft>
              <a:buClrTx/>
              <a:buSzTx/>
              <a:buFontTx/>
              <a:buNone/>
              <a:tabLst/>
            </a:pPr>
            <a:endParaRPr kumimoji="0" lang="en-US" altLang="en-US" sz="3200" b="0" i="1"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5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Arial" panose="020B0604020202020204" pitchFamily="34" charset="0"/>
              </a:rPr>
              <a:t>#define API_KEY "AIzaSyCpiuMquE1lVZhysN6iFOb8eNLKGLENBNw"</a:t>
            </a:r>
          </a:p>
          <a:p>
            <a:pPr marL="0" marR="0" lvl="0" indent="0" algn="r" defTabSz="914400" rtl="1" eaLnBrk="0" fontAlgn="base" latinLnBrk="0" hangingPunct="0">
              <a:lnSpc>
                <a:spcPct val="15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Arial" panose="020B0604020202020204" pitchFamily="34" charset="0"/>
              </a:rPr>
              <a:t>#define DATABASE_URL "simple-irrigation-system-default-rtdb.firebaseio.com/"</a:t>
            </a:r>
          </a:p>
          <a:p>
            <a:pPr marL="0" marR="0" lvl="0" indent="0" algn="r" defTabSz="914400" rtl="1" eaLnBrk="0" fontAlgn="base" latinLnBrk="0" hangingPunct="0">
              <a:lnSpc>
                <a:spcPct val="150000"/>
              </a:lnSpc>
              <a:spcBef>
                <a:spcPct val="0"/>
              </a:spcBef>
              <a:spcAft>
                <a:spcPct val="0"/>
              </a:spcAft>
              <a:buClrTx/>
              <a:buSzTx/>
              <a:buFontTx/>
              <a:buNone/>
              <a:tabLst/>
            </a:pPr>
            <a:endParaRPr kumimoji="0" lang="ar-YE" altLang="en-US" sz="2400" b="0" i="1"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42921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12E28-2CD0-9895-28B6-BF308F9B1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E2A78-59E6-C9C8-D6B6-7AE5F1E57A79}"/>
              </a:ext>
            </a:extLst>
          </p:cNvPr>
          <p:cNvSpPr>
            <a:spLocks noGrp="1"/>
          </p:cNvSpPr>
          <p:nvPr>
            <p:ph type="title"/>
          </p:nvPr>
        </p:nvSpPr>
        <p:spPr/>
        <p:txBody>
          <a:bodyPr/>
          <a:lstStyle/>
          <a:p>
            <a:pPr algn="ctr" rtl="1"/>
            <a:r>
              <a:rPr lang="ar-YE" b="1" dirty="0"/>
              <a:t>مرحلة التطوير</a:t>
            </a:r>
            <a:endParaRPr lang="en-US" dirty="0"/>
          </a:p>
        </p:txBody>
      </p:sp>
      <p:sp>
        <p:nvSpPr>
          <p:cNvPr id="5" name="Rectangle 2">
            <a:extLst>
              <a:ext uri="{FF2B5EF4-FFF2-40B4-BE49-F238E27FC236}">
                <a16:creationId xmlns:a16="http://schemas.microsoft.com/office/drawing/2014/main" id="{0D719592-2071-FF62-6ECC-779ABB0B48F7}"/>
              </a:ext>
            </a:extLst>
          </p:cNvPr>
          <p:cNvSpPr>
            <a:spLocks noChangeArrowheads="1"/>
          </p:cNvSpPr>
          <p:nvPr/>
        </p:nvSpPr>
        <p:spPr bwMode="auto">
          <a:xfrm>
            <a:off x="1397284" y="1590359"/>
            <a:ext cx="8907695" cy="1345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50000"/>
              </a:lnSpc>
              <a:spcBef>
                <a:spcPct val="0"/>
              </a:spcBef>
              <a:spcAft>
                <a:spcPct val="0"/>
              </a:spcAft>
              <a:buClrTx/>
              <a:buSzTx/>
              <a:buFontTx/>
              <a:buNone/>
              <a:tabLst/>
            </a:pPr>
            <a:r>
              <a:rPr kumimoji="0" lang="ar-SA"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يتم تسجيل الدخول إلى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Firebase </a:t>
            </a:r>
            <a:r>
              <a:rPr kumimoji="0" lang="ar-SA"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باستخدام:</a:t>
            </a:r>
            <a:endPar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1" eaLnBrk="0" fontAlgn="base" latinLnBrk="0" hangingPunct="0">
              <a:lnSpc>
                <a:spcPct val="150000"/>
              </a:lnSpc>
              <a:spcBef>
                <a:spcPct val="0"/>
              </a:spcBef>
              <a:spcAft>
                <a:spcPct val="0"/>
              </a:spcAft>
              <a:buClrTx/>
              <a:buSzTx/>
              <a:buFontTx/>
              <a:buNone/>
              <a:tabLst/>
            </a:pPr>
            <a:endParaRPr kumimoji="0" lang="en-US" altLang="en-US" sz="2400" b="0" i="1"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50000"/>
              </a:lnSpc>
              <a:spcBef>
                <a:spcPct val="0"/>
              </a:spcBef>
              <a:spcAft>
                <a:spcPct val="0"/>
              </a:spcAft>
              <a:buClrTx/>
              <a:buSzTx/>
              <a:buFontTx/>
              <a:buNone/>
              <a:tabLst/>
            </a:pPr>
            <a:r>
              <a:rPr kumimoji="0" lang="en-US" altLang="en-US" sz="1400" b="0" i="1" u="none" strike="noStrike" cap="none" normalizeH="0" baseline="0" dirty="0" err="1">
                <a:ln>
                  <a:noFill/>
                </a:ln>
                <a:solidFill>
                  <a:schemeClr val="tx1"/>
                </a:solidFill>
                <a:effectLst/>
                <a:latin typeface="Arial" panose="020B0604020202020204" pitchFamily="34" charset="0"/>
              </a:rPr>
              <a:t>Firebase.signUp</a:t>
            </a:r>
            <a:r>
              <a:rPr kumimoji="0" lang="en-US" altLang="en-US" sz="1400" b="0" i="1" u="none" strike="noStrike" cap="none" normalizeH="0" baseline="0" dirty="0">
                <a:ln>
                  <a:noFill/>
                </a:ln>
                <a:solidFill>
                  <a:schemeClr val="tx1"/>
                </a:solidFill>
                <a:effectLst/>
                <a:latin typeface="Arial" panose="020B0604020202020204" pitchFamily="34" charset="0"/>
              </a:rPr>
              <a:t>(&amp;config, &amp;auth, "", "");</a:t>
            </a:r>
          </a:p>
        </p:txBody>
      </p:sp>
    </p:spTree>
    <p:extLst>
      <p:ext uri="{BB962C8B-B14F-4D97-AF65-F5344CB8AC3E}">
        <p14:creationId xmlns:p14="http://schemas.microsoft.com/office/powerpoint/2010/main" val="17936818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1047-2439-1A9A-5E3D-AB62DAD56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2F4EF-3E0F-686B-E15C-135A297433CD}"/>
              </a:ext>
            </a:extLst>
          </p:cNvPr>
          <p:cNvSpPr>
            <a:spLocks noGrp="1"/>
          </p:cNvSpPr>
          <p:nvPr>
            <p:ph type="title"/>
          </p:nvPr>
        </p:nvSpPr>
        <p:spPr/>
        <p:txBody>
          <a:bodyPr/>
          <a:lstStyle/>
          <a:p>
            <a:pPr algn="ctr" rtl="1"/>
            <a:r>
              <a:rPr lang="ar-YE" b="1" dirty="0"/>
              <a:t>مرحلة التطوير</a:t>
            </a:r>
            <a:endParaRPr lang="en-US" dirty="0"/>
          </a:p>
        </p:txBody>
      </p:sp>
      <p:sp>
        <p:nvSpPr>
          <p:cNvPr id="5" name="Rectangle 2">
            <a:extLst>
              <a:ext uri="{FF2B5EF4-FFF2-40B4-BE49-F238E27FC236}">
                <a16:creationId xmlns:a16="http://schemas.microsoft.com/office/drawing/2014/main" id="{7B4F905B-6251-1AE4-4A87-E82F92ABAAEB}"/>
              </a:ext>
            </a:extLst>
          </p:cNvPr>
          <p:cNvSpPr>
            <a:spLocks noChangeArrowheads="1"/>
          </p:cNvSpPr>
          <p:nvPr/>
        </p:nvSpPr>
        <p:spPr bwMode="auto">
          <a:xfrm>
            <a:off x="1397284" y="1405694"/>
            <a:ext cx="8907695" cy="1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r" rtl="1"/>
            <a:r>
              <a:rPr lang="ar-SA" b="1" dirty="0"/>
              <a:t>قراءة بيانات الحساسات:</a:t>
            </a:r>
            <a:endParaRPr lang="ar-SA" dirty="0"/>
          </a:p>
          <a:p>
            <a:pPr marL="0" marR="0" lvl="0" indent="0" algn="r" defTabSz="914400" rtl="1" eaLnBrk="0" fontAlgn="base" latinLnBrk="0" hangingPunct="0">
              <a:lnSpc>
                <a:spcPct val="150000"/>
              </a:lnSpc>
              <a:spcBef>
                <a:spcPct val="0"/>
              </a:spcBef>
              <a:spcAft>
                <a:spcPct val="0"/>
              </a:spcAft>
              <a:buClrTx/>
              <a:buSzTx/>
              <a:buFontTx/>
              <a:buNone/>
              <a:tabLst/>
            </a:pPr>
            <a:endParaRPr kumimoji="0" lang="en-US" altLang="en-US" sz="3200" b="0" i="1"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5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Arial" panose="020B0604020202020204" pitchFamily="34" charset="0"/>
              </a:rPr>
              <a:t>float temperature = </a:t>
            </a:r>
            <a:r>
              <a:rPr kumimoji="0" lang="en-US" altLang="en-US" sz="1400" b="0" i="1" u="none" strike="noStrike" cap="none" normalizeH="0" baseline="0" dirty="0" err="1">
                <a:ln>
                  <a:noFill/>
                </a:ln>
                <a:solidFill>
                  <a:schemeClr val="tx1"/>
                </a:solidFill>
                <a:effectLst/>
                <a:latin typeface="Arial" panose="020B0604020202020204" pitchFamily="34" charset="0"/>
              </a:rPr>
              <a:t>dht.readTemperature</a:t>
            </a:r>
            <a:r>
              <a:rPr kumimoji="0" lang="en-US" altLang="en-US" sz="1400" b="0" i="1" u="none" strike="noStrike" cap="none" normalizeH="0" baseline="0" dirty="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5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Arial" panose="020B0604020202020204" pitchFamily="34" charset="0"/>
              </a:rPr>
              <a:t>float humidity = </a:t>
            </a:r>
            <a:r>
              <a:rPr kumimoji="0" lang="en-US" altLang="en-US" sz="1400" b="0" i="1" u="none" strike="noStrike" cap="none" normalizeH="0" baseline="0" dirty="0" err="1">
                <a:ln>
                  <a:noFill/>
                </a:ln>
                <a:solidFill>
                  <a:schemeClr val="tx1"/>
                </a:solidFill>
                <a:effectLst/>
                <a:latin typeface="Arial" panose="020B0604020202020204" pitchFamily="34" charset="0"/>
              </a:rPr>
              <a:t>dht.readHumidity</a:t>
            </a:r>
            <a:r>
              <a:rPr kumimoji="0" lang="en-US" altLang="en-US" sz="1400" b="0" i="1"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0310624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00034-91A7-AA60-A12C-EE931A132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5663B-7E20-6191-DFAE-4065D8AA0C5A}"/>
              </a:ext>
            </a:extLst>
          </p:cNvPr>
          <p:cNvSpPr>
            <a:spLocks noGrp="1"/>
          </p:cNvSpPr>
          <p:nvPr>
            <p:ph type="title"/>
          </p:nvPr>
        </p:nvSpPr>
        <p:spPr/>
        <p:txBody>
          <a:bodyPr/>
          <a:lstStyle/>
          <a:p>
            <a:pPr algn="ctr" rtl="1"/>
            <a:r>
              <a:rPr lang="ar-YE" b="1" dirty="0"/>
              <a:t>مرحلة التطوير</a:t>
            </a:r>
            <a:endParaRPr lang="en-US" dirty="0"/>
          </a:p>
        </p:txBody>
      </p:sp>
      <p:sp>
        <p:nvSpPr>
          <p:cNvPr id="5" name="Rectangle 2">
            <a:extLst>
              <a:ext uri="{FF2B5EF4-FFF2-40B4-BE49-F238E27FC236}">
                <a16:creationId xmlns:a16="http://schemas.microsoft.com/office/drawing/2014/main" id="{1A20BC6F-BFCA-BEAB-B95B-604D56C36FE1}"/>
              </a:ext>
            </a:extLst>
          </p:cNvPr>
          <p:cNvSpPr>
            <a:spLocks noChangeArrowheads="1"/>
          </p:cNvSpPr>
          <p:nvPr/>
        </p:nvSpPr>
        <p:spPr bwMode="auto">
          <a:xfrm>
            <a:off x="1397284" y="1751941"/>
            <a:ext cx="8907695" cy="1021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r" rtl="1"/>
            <a:r>
              <a:rPr lang="ar-SA" b="1" dirty="0"/>
              <a:t>قراءة رطوبة التربة باستخدام منفذ </a:t>
            </a:r>
            <a:r>
              <a:rPr lang="en-US" b="1" dirty="0"/>
              <a:t>A0</a:t>
            </a:r>
          </a:p>
          <a:p>
            <a:pPr algn="r" rtl="1"/>
            <a:endParaRPr kumimoji="0" lang="en-US" altLang="en-US" sz="2400" b="0" i="1"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50000"/>
              </a:lnSpc>
              <a:spcBef>
                <a:spcPct val="0"/>
              </a:spcBef>
              <a:spcAft>
                <a:spcPct val="0"/>
              </a:spcAft>
              <a:buClrTx/>
              <a:buSzTx/>
              <a:buFontTx/>
              <a:buNone/>
              <a:tabLst/>
            </a:pPr>
            <a:r>
              <a:rPr kumimoji="0" lang="en-US" altLang="en-US" sz="1400" b="0" i="1" u="none" strike="noStrike" cap="none" normalizeH="0" baseline="0" dirty="0" err="1">
                <a:ln>
                  <a:noFill/>
                </a:ln>
                <a:solidFill>
                  <a:schemeClr val="tx1"/>
                </a:solidFill>
                <a:effectLst/>
                <a:latin typeface="Arial" panose="020B0604020202020204" pitchFamily="34" charset="0"/>
              </a:rPr>
              <a:t>soil_moisture</a:t>
            </a:r>
            <a:r>
              <a:rPr kumimoji="0" lang="en-US" altLang="en-US" sz="1400" b="0" i="1" u="none" strike="noStrike" cap="none" normalizeH="0" baseline="0" dirty="0">
                <a:ln>
                  <a:noFill/>
                </a:ln>
                <a:solidFill>
                  <a:schemeClr val="tx1"/>
                </a:solidFill>
                <a:effectLst/>
                <a:latin typeface="Arial" panose="020B0604020202020204" pitchFamily="34" charset="0"/>
              </a:rPr>
              <a:t> = </a:t>
            </a:r>
            <a:r>
              <a:rPr kumimoji="0" lang="en-US" altLang="en-US" sz="1400" b="0" i="1" u="none" strike="noStrike" cap="none" normalizeH="0" baseline="0" dirty="0" err="1">
                <a:ln>
                  <a:noFill/>
                </a:ln>
                <a:solidFill>
                  <a:schemeClr val="tx1"/>
                </a:solidFill>
                <a:effectLst/>
                <a:latin typeface="Arial" panose="020B0604020202020204" pitchFamily="34" charset="0"/>
              </a:rPr>
              <a:t>analogRead</a:t>
            </a:r>
            <a:r>
              <a:rPr kumimoji="0" lang="en-US" altLang="en-US" sz="1400" b="0" i="1" u="none" strike="noStrike" cap="none" normalizeH="0" baseline="0" dirty="0">
                <a:ln>
                  <a:noFill/>
                </a:ln>
                <a:solidFill>
                  <a:schemeClr val="tx1"/>
                </a:solidFill>
                <a:effectLst/>
                <a:latin typeface="Arial" panose="020B0604020202020204" pitchFamily="34" charset="0"/>
              </a:rPr>
              <a:t>(</a:t>
            </a:r>
            <a:r>
              <a:rPr kumimoji="0" lang="en-US" altLang="en-US" sz="1400" b="0" i="1" u="none" strike="noStrike" cap="none" normalizeH="0" baseline="0" dirty="0" err="1">
                <a:ln>
                  <a:noFill/>
                </a:ln>
                <a:solidFill>
                  <a:schemeClr val="tx1"/>
                </a:solidFill>
                <a:effectLst/>
                <a:latin typeface="Arial" panose="020B0604020202020204" pitchFamily="34" charset="0"/>
              </a:rPr>
              <a:t>moisture_pin</a:t>
            </a:r>
            <a:r>
              <a:rPr kumimoji="0" lang="en-US" altLang="en-US" sz="1400" b="0" i="1"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452141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0CA37-F74E-741D-569A-B192BA8EC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516988-BBA6-FFDA-09C2-F5AA069010C1}"/>
              </a:ext>
            </a:extLst>
          </p:cNvPr>
          <p:cNvSpPr>
            <a:spLocks noGrp="1"/>
          </p:cNvSpPr>
          <p:nvPr>
            <p:ph type="title"/>
          </p:nvPr>
        </p:nvSpPr>
        <p:spPr/>
        <p:txBody>
          <a:bodyPr/>
          <a:lstStyle/>
          <a:p>
            <a:pPr algn="ctr" rtl="1"/>
            <a:r>
              <a:rPr lang="ar-YE" b="1" dirty="0"/>
              <a:t>مرحلة التطوير</a:t>
            </a:r>
            <a:endParaRPr lang="en-US" dirty="0"/>
          </a:p>
        </p:txBody>
      </p:sp>
      <p:sp>
        <p:nvSpPr>
          <p:cNvPr id="5" name="Rectangle 2">
            <a:extLst>
              <a:ext uri="{FF2B5EF4-FFF2-40B4-BE49-F238E27FC236}">
                <a16:creationId xmlns:a16="http://schemas.microsoft.com/office/drawing/2014/main" id="{8F3EB5A3-0FCA-C242-B661-E0A845E8E7AB}"/>
              </a:ext>
            </a:extLst>
          </p:cNvPr>
          <p:cNvSpPr>
            <a:spLocks noChangeArrowheads="1"/>
          </p:cNvSpPr>
          <p:nvPr/>
        </p:nvSpPr>
        <p:spPr bwMode="auto">
          <a:xfrm>
            <a:off x="1397284" y="1590359"/>
            <a:ext cx="8907695" cy="1345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r" rtl="1"/>
            <a:r>
              <a:rPr lang="ar-SA" b="1" dirty="0"/>
              <a:t>إدارة التحكم اليدوي والتلقائي: يتم استرداد حالة التحكم اليدوي أو التلقائي من </a:t>
            </a:r>
            <a:r>
              <a:rPr lang="en-US" b="1" dirty="0"/>
              <a:t>Firebase</a:t>
            </a:r>
          </a:p>
          <a:p>
            <a:pPr algn="r" rtl="1"/>
            <a:endParaRPr kumimoji="0" lang="en-US" altLang="en-US" sz="2400" b="0" i="1"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50000"/>
              </a:lnSpc>
              <a:spcBef>
                <a:spcPct val="0"/>
              </a:spcBef>
              <a:spcAft>
                <a:spcPct val="0"/>
              </a:spcAft>
              <a:buClrTx/>
              <a:buSzTx/>
              <a:buFontTx/>
              <a:buNone/>
              <a:tabLst/>
            </a:pPr>
            <a:r>
              <a:rPr kumimoji="0" lang="en-US" altLang="en-US" sz="1400" b="0" i="1" u="none" strike="noStrike" cap="none" normalizeH="0" baseline="0" dirty="0" err="1">
                <a:ln>
                  <a:noFill/>
                </a:ln>
                <a:solidFill>
                  <a:schemeClr val="tx1"/>
                </a:solidFill>
                <a:effectLst/>
                <a:latin typeface="Arial" panose="020B0604020202020204" pitchFamily="34" charset="0"/>
              </a:rPr>
              <a:t>Firebase.RTDB.getBool</a:t>
            </a:r>
            <a:r>
              <a:rPr kumimoji="0" lang="en-US" altLang="en-US" sz="1400" b="0" i="1" u="none" strike="noStrike" cap="none" normalizeH="0" baseline="0" dirty="0">
                <a:ln>
                  <a:noFill/>
                </a:ln>
                <a:solidFill>
                  <a:schemeClr val="tx1"/>
                </a:solidFill>
                <a:effectLst/>
                <a:latin typeface="Arial" panose="020B0604020202020204" pitchFamily="34" charset="0"/>
              </a:rPr>
              <a:t>(&amp;</a:t>
            </a:r>
            <a:r>
              <a:rPr kumimoji="0" lang="en-US" altLang="en-US" sz="1400" b="0" i="1" u="none" strike="noStrike" cap="none" normalizeH="0" baseline="0" dirty="0" err="1">
                <a:ln>
                  <a:noFill/>
                </a:ln>
                <a:solidFill>
                  <a:schemeClr val="tx1"/>
                </a:solidFill>
                <a:effectLst/>
                <a:latin typeface="Arial" panose="020B0604020202020204" pitchFamily="34" charset="0"/>
              </a:rPr>
              <a:t>fbdo</a:t>
            </a:r>
            <a:r>
              <a:rPr kumimoji="0" lang="en-US" altLang="en-US" sz="1400" b="0" i="1" u="none" strike="noStrike" cap="none" normalizeH="0" baseline="0" dirty="0">
                <a:ln>
                  <a:noFill/>
                </a:ln>
                <a:solidFill>
                  <a:schemeClr val="tx1"/>
                </a:solidFill>
                <a:effectLst/>
                <a:latin typeface="Arial" panose="020B0604020202020204" pitchFamily="34" charset="0"/>
              </a:rPr>
              <a:t>, "plant/</a:t>
            </a:r>
            <a:r>
              <a:rPr kumimoji="0" lang="en-US" altLang="en-US" sz="1400" b="0" i="1" u="none" strike="noStrike" cap="none" normalizeH="0" baseline="0" dirty="0" err="1">
                <a:ln>
                  <a:noFill/>
                </a:ln>
                <a:solidFill>
                  <a:schemeClr val="tx1"/>
                </a:solidFill>
                <a:effectLst/>
                <a:latin typeface="Arial" panose="020B0604020202020204" pitchFamily="34" charset="0"/>
              </a:rPr>
              <a:t>manual_control</a:t>
            </a:r>
            <a:r>
              <a:rPr kumimoji="0" lang="en-US" altLang="en-US" sz="1400" b="0" i="1" u="none" strike="noStrike" cap="none" normalizeH="0" baseline="0" dirty="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50000"/>
              </a:lnSpc>
              <a:spcBef>
                <a:spcPct val="0"/>
              </a:spcBef>
              <a:spcAft>
                <a:spcPct val="0"/>
              </a:spcAft>
              <a:buClrTx/>
              <a:buSzTx/>
              <a:buFontTx/>
              <a:buNone/>
              <a:tabLst/>
            </a:pPr>
            <a:r>
              <a:rPr kumimoji="0" lang="en-US" altLang="en-US" sz="1400" b="0" i="1" u="none" strike="noStrike" cap="none" normalizeH="0" baseline="0" dirty="0" err="1">
                <a:ln>
                  <a:noFill/>
                </a:ln>
                <a:solidFill>
                  <a:schemeClr val="tx1"/>
                </a:solidFill>
                <a:effectLst/>
                <a:latin typeface="Arial" panose="020B0604020202020204" pitchFamily="34" charset="0"/>
              </a:rPr>
              <a:t>Firebase.RTDB.getBool</a:t>
            </a:r>
            <a:r>
              <a:rPr kumimoji="0" lang="en-US" altLang="en-US" sz="1400" b="0" i="1" u="none" strike="noStrike" cap="none" normalizeH="0" baseline="0" dirty="0">
                <a:ln>
                  <a:noFill/>
                </a:ln>
                <a:solidFill>
                  <a:schemeClr val="tx1"/>
                </a:solidFill>
                <a:effectLst/>
                <a:latin typeface="Arial" panose="020B0604020202020204" pitchFamily="34" charset="0"/>
              </a:rPr>
              <a:t>(&amp;</a:t>
            </a:r>
            <a:r>
              <a:rPr kumimoji="0" lang="en-US" altLang="en-US" sz="1400" b="0" i="1" u="none" strike="noStrike" cap="none" normalizeH="0" baseline="0" dirty="0" err="1">
                <a:ln>
                  <a:noFill/>
                </a:ln>
                <a:solidFill>
                  <a:schemeClr val="tx1"/>
                </a:solidFill>
                <a:effectLst/>
                <a:latin typeface="Arial" panose="020B0604020202020204" pitchFamily="34" charset="0"/>
              </a:rPr>
              <a:t>fbdo</a:t>
            </a:r>
            <a:r>
              <a:rPr kumimoji="0" lang="en-US" altLang="en-US" sz="1400" b="0" i="1" u="none" strike="noStrike" cap="none" normalizeH="0" baseline="0" dirty="0">
                <a:ln>
                  <a:noFill/>
                </a:ln>
                <a:solidFill>
                  <a:schemeClr val="tx1"/>
                </a:solidFill>
                <a:effectLst/>
                <a:latin typeface="Arial" panose="020B0604020202020204" pitchFamily="34" charset="0"/>
              </a:rPr>
              <a:t>, "plant/</a:t>
            </a:r>
            <a:r>
              <a:rPr kumimoji="0" lang="en-US" altLang="en-US" sz="1400" b="0" i="1" u="none" strike="noStrike" cap="none" normalizeH="0" baseline="0" dirty="0" err="1">
                <a:ln>
                  <a:noFill/>
                </a:ln>
                <a:solidFill>
                  <a:schemeClr val="tx1"/>
                </a:solidFill>
                <a:effectLst/>
                <a:latin typeface="Arial" panose="020B0604020202020204" pitchFamily="34" charset="0"/>
              </a:rPr>
              <a:t>auto_control</a:t>
            </a:r>
            <a:r>
              <a:rPr kumimoji="0" lang="en-US" altLang="en-US" sz="1400" b="0" i="1"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793375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72320-B40E-3FA0-6B5F-6C94B127C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D5E20-553A-E98D-63C9-170A3B7B535E}"/>
              </a:ext>
            </a:extLst>
          </p:cNvPr>
          <p:cNvSpPr>
            <a:spLocks noGrp="1"/>
          </p:cNvSpPr>
          <p:nvPr>
            <p:ph type="title"/>
          </p:nvPr>
        </p:nvSpPr>
        <p:spPr/>
        <p:txBody>
          <a:bodyPr/>
          <a:lstStyle/>
          <a:p>
            <a:pPr algn="ctr" rtl="1"/>
            <a:r>
              <a:rPr lang="ar-YE" b="1" dirty="0"/>
              <a:t>مرحلة التطوير</a:t>
            </a:r>
            <a:endParaRPr lang="en-US" dirty="0"/>
          </a:p>
        </p:txBody>
      </p:sp>
      <p:sp>
        <p:nvSpPr>
          <p:cNvPr id="5" name="Rectangle 2">
            <a:extLst>
              <a:ext uri="{FF2B5EF4-FFF2-40B4-BE49-F238E27FC236}">
                <a16:creationId xmlns:a16="http://schemas.microsoft.com/office/drawing/2014/main" id="{61EE67F7-7211-85EA-B8C6-2FD45DDB49FA}"/>
              </a:ext>
            </a:extLst>
          </p:cNvPr>
          <p:cNvSpPr>
            <a:spLocks noChangeArrowheads="1"/>
          </p:cNvSpPr>
          <p:nvPr/>
        </p:nvSpPr>
        <p:spPr bwMode="auto">
          <a:xfrm>
            <a:off x="1397284" y="1640301"/>
            <a:ext cx="8907695" cy="2499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r" rtl="1">
              <a:lnSpc>
                <a:spcPct val="150000"/>
              </a:lnSpc>
            </a:pPr>
            <a:r>
              <a:rPr lang="ar-SA" b="1" dirty="0"/>
              <a:t>رفع البيانات إلى </a:t>
            </a:r>
            <a:r>
              <a:rPr lang="en-US" b="1" dirty="0"/>
              <a:t> Firebase: </a:t>
            </a:r>
            <a:r>
              <a:rPr lang="ar-SA" b="1" dirty="0"/>
              <a:t>يتم رفع بيانات الحساسات وحالة المضخة إلى </a:t>
            </a:r>
            <a:r>
              <a:rPr lang="en-US" b="1" dirty="0"/>
              <a:t> Firebase </a:t>
            </a:r>
            <a:r>
              <a:rPr lang="ar-SA" b="1" dirty="0"/>
              <a:t>باستخدام</a:t>
            </a:r>
            <a:endParaRPr lang="en-US" b="1" dirty="0"/>
          </a:p>
          <a:p>
            <a:pPr algn="r" rtl="1">
              <a:lnSpc>
                <a:spcPct val="150000"/>
              </a:lnSpc>
            </a:pPr>
            <a:endParaRPr lang="en-US" b="1" dirty="0"/>
          </a:p>
          <a:p>
            <a:pPr algn="r" rtl="1">
              <a:lnSpc>
                <a:spcPct val="150000"/>
              </a:lnSpc>
            </a:pPr>
            <a:endParaRPr lang="en-US" sz="1400" b="1" dirty="0"/>
          </a:p>
          <a:p>
            <a:pPr algn="r" rtl="1">
              <a:lnSpc>
                <a:spcPct val="150000"/>
              </a:lnSpc>
            </a:pPr>
            <a:r>
              <a:rPr lang="en-US" sz="1400" b="1" dirty="0"/>
              <a:t> </a:t>
            </a:r>
            <a:r>
              <a:rPr kumimoji="0" lang="en-US" altLang="en-US" sz="1400" b="0" i="1" u="none" strike="noStrike" cap="none" normalizeH="0" baseline="0" dirty="0" err="1">
                <a:ln>
                  <a:noFill/>
                </a:ln>
                <a:solidFill>
                  <a:schemeClr val="tx1"/>
                </a:solidFill>
                <a:effectLst/>
                <a:latin typeface="Arial" panose="020B0604020202020204" pitchFamily="34" charset="0"/>
              </a:rPr>
              <a:t>Firebase.RTDB.setFloat</a:t>
            </a:r>
            <a:r>
              <a:rPr kumimoji="0" lang="en-US" altLang="en-US" sz="1400" b="0" i="1" u="none" strike="noStrike" cap="none" normalizeH="0" baseline="0" dirty="0">
                <a:ln>
                  <a:noFill/>
                </a:ln>
                <a:solidFill>
                  <a:schemeClr val="tx1"/>
                </a:solidFill>
                <a:effectLst/>
                <a:latin typeface="Arial" panose="020B0604020202020204" pitchFamily="34" charset="0"/>
              </a:rPr>
              <a:t>(&amp;</a:t>
            </a:r>
            <a:r>
              <a:rPr kumimoji="0" lang="en-US" altLang="en-US" sz="1400" b="0" i="1" u="none" strike="noStrike" cap="none" normalizeH="0" baseline="0" dirty="0" err="1">
                <a:ln>
                  <a:noFill/>
                </a:ln>
                <a:solidFill>
                  <a:schemeClr val="tx1"/>
                </a:solidFill>
                <a:effectLst/>
                <a:latin typeface="Arial" panose="020B0604020202020204" pitchFamily="34" charset="0"/>
              </a:rPr>
              <a:t>fbdo</a:t>
            </a:r>
            <a:r>
              <a:rPr kumimoji="0" lang="en-US" altLang="en-US" sz="1400" b="0" i="1" u="none" strike="noStrike" cap="none" normalizeH="0" baseline="0" dirty="0">
                <a:ln>
                  <a:noFill/>
                </a:ln>
                <a:solidFill>
                  <a:schemeClr val="tx1"/>
                </a:solidFill>
                <a:effectLst/>
                <a:latin typeface="Arial" panose="020B0604020202020204" pitchFamily="34" charset="0"/>
              </a:rPr>
              <a:t>, "plant/temperature", temperature);</a:t>
            </a:r>
          </a:p>
          <a:p>
            <a:pPr algn="r" rtl="1">
              <a:lnSpc>
                <a:spcPct val="150000"/>
              </a:lnSpc>
            </a:pPr>
            <a:r>
              <a:rPr kumimoji="0" lang="en-US" altLang="en-US" sz="1400" b="0" i="1" u="none" strike="noStrike" cap="none" normalizeH="0" baseline="0" dirty="0" err="1">
                <a:ln>
                  <a:noFill/>
                </a:ln>
                <a:solidFill>
                  <a:schemeClr val="tx1"/>
                </a:solidFill>
                <a:effectLst/>
                <a:latin typeface="Arial" panose="020B0604020202020204" pitchFamily="34" charset="0"/>
              </a:rPr>
              <a:t>Firebase.RTDB.setFloat</a:t>
            </a:r>
            <a:r>
              <a:rPr kumimoji="0" lang="en-US" altLang="en-US" sz="1400" b="0" i="1" u="none" strike="noStrike" cap="none" normalizeH="0" baseline="0" dirty="0">
                <a:ln>
                  <a:noFill/>
                </a:ln>
                <a:solidFill>
                  <a:schemeClr val="tx1"/>
                </a:solidFill>
                <a:effectLst/>
                <a:latin typeface="Arial" panose="020B0604020202020204" pitchFamily="34" charset="0"/>
              </a:rPr>
              <a:t>(&amp;</a:t>
            </a:r>
            <a:r>
              <a:rPr kumimoji="0" lang="en-US" altLang="en-US" sz="1400" b="0" i="1" u="none" strike="noStrike" cap="none" normalizeH="0" baseline="0" dirty="0" err="1">
                <a:ln>
                  <a:noFill/>
                </a:ln>
                <a:solidFill>
                  <a:schemeClr val="tx1"/>
                </a:solidFill>
                <a:effectLst/>
                <a:latin typeface="Arial" panose="020B0604020202020204" pitchFamily="34" charset="0"/>
              </a:rPr>
              <a:t>fbdo</a:t>
            </a:r>
            <a:r>
              <a:rPr kumimoji="0" lang="en-US" altLang="en-US" sz="1400" b="0" i="1" u="none" strike="noStrike" cap="none" normalizeH="0" baseline="0" dirty="0">
                <a:ln>
                  <a:noFill/>
                </a:ln>
                <a:solidFill>
                  <a:schemeClr val="tx1"/>
                </a:solidFill>
                <a:effectLst/>
                <a:latin typeface="Arial" panose="020B0604020202020204" pitchFamily="34" charset="0"/>
              </a:rPr>
              <a:t>, "plant/humidity", humidity);</a:t>
            </a:r>
          </a:p>
          <a:p>
            <a:pPr algn="r" rtl="1">
              <a:lnSpc>
                <a:spcPct val="150000"/>
              </a:lnSpc>
            </a:pPr>
            <a:r>
              <a:rPr kumimoji="0" lang="en-US" altLang="en-US" sz="1400" b="0" i="1" u="none" strike="noStrike" cap="none" normalizeH="0" baseline="0" dirty="0" err="1">
                <a:ln>
                  <a:noFill/>
                </a:ln>
                <a:solidFill>
                  <a:schemeClr val="tx1"/>
                </a:solidFill>
                <a:effectLst/>
                <a:latin typeface="Arial" panose="020B0604020202020204" pitchFamily="34" charset="0"/>
              </a:rPr>
              <a:t>Firebase.RTDB.setInt</a:t>
            </a:r>
            <a:r>
              <a:rPr kumimoji="0" lang="en-US" altLang="en-US" sz="1400" b="0" i="1" u="none" strike="noStrike" cap="none" normalizeH="0" baseline="0" dirty="0">
                <a:ln>
                  <a:noFill/>
                </a:ln>
                <a:solidFill>
                  <a:schemeClr val="tx1"/>
                </a:solidFill>
                <a:effectLst/>
                <a:latin typeface="Arial" panose="020B0604020202020204" pitchFamily="34" charset="0"/>
              </a:rPr>
              <a:t>(&amp;</a:t>
            </a:r>
            <a:r>
              <a:rPr kumimoji="0" lang="en-US" altLang="en-US" sz="1400" b="0" i="1" u="none" strike="noStrike" cap="none" normalizeH="0" baseline="0" dirty="0" err="1">
                <a:ln>
                  <a:noFill/>
                </a:ln>
                <a:solidFill>
                  <a:schemeClr val="tx1"/>
                </a:solidFill>
                <a:effectLst/>
                <a:latin typeface="Arial" panose="020B0604020202020204" pitchFamily="34" charset="0"/>
              </a:rPr>
              <a:t>fbdo</a:t>
            </a:r>
            <a:r>
              <a:rPr kumimoji="0" lang="en-US" altLang="en-US" sz="1400" b="0" i="1" u="none" strike="noStrike" cap="none" normalizeH="0" baseline="0" dirty="0">
                <a:ln>
                  <a:noFill/>
                </a:ln>
                <a:solidFill>
                  <a:schemeClr val="tx1"/>
                </a:solidFill>
                <a:effectLst/>
                <a:latin typeface="Arial" panose="020B0604020202020204" pitchFamily="34" charset="0"/>
              </a:rPr>
              <a:t>, "plant/</a:t>
            </a:r>
            <a:r>
              <a:rPr kumimoji="0" lang="en-US" altLang="en-US" sz="1400" b="0" i="1" u="none" strike="noStrike" cap="none" normalizeH="0" baseline="0" dirty="0" err="1">
                <a:ln>
                  <a:noFill/>
                </a:ln>
                <a:solidFill>
                  <a:schemeClr val="tx1"/>
                </a:solidFill>
                <a:effectLst/>
                <a:latin typeface="Arial" panose="020B0604020202020204" pitchFamily="34" charset="0"/>
              </a:rPr>
              <a:t>soil_moisture</a:t>
            </a:r>
            <a:r>
              <a:rPr kumimoji="0" lang="en-US" altLang="en-US" sz="1400" b="0" i="1" u="none" strike="noStrike" cap="none" normalizeH="0" baseline="0" dirty="0">
                <a:ln>
                  <a:noFill/>
                </a:ln>
                <a:solidFill>
                  <a:schemeClr val="tx1"/>
                </a:solidFill>
                <a:effectLst/>
                <a:latin typeface="Arial" panose="020B0604020202020204" pitchFamily="34" charset="0"/>
              </a:rPr>
              <a:t>", </a:t>
            </a:r>
            <a:r>
              <a:rPr kumimoji="0" lang="en-US" altLang="en-US" sz="1400" b="0" i="1" u="none" strike="noStrike" cap="none" normalizeH="0" baseline="0" dirty="0" err="1">
                <a:ln>
                  <a:noFill/>
                </a:ln>
                <a:solidFill>
                  <a:schemeClr val="tx1"/>
                </a:solidFill>
                <a:effectLst/>
                <a:latin typeface="Arial" panose="020B0604020202020204" pitchFamily="34" charset="0"/>
              </a:rPr>
              <a:t>soil_moisture</a:t>
            </a:r>
            <a:r>
              <a:rPr kumimoji="0" lang="en-US" altLang="en-US" sz="1400" b="0" i="1" u="none" strike="noStrike" cap="none" normalizeH="0" baseline="0" dirty="0">
                <a:ln>
                  <a:noFill/>
                </a:ln>
                <a:solidFill>
                  <a:schemeClr val="tx1"/>
                </a:solidFill>
                <a:effectLst/>
                <a:latin typeface="Arial" panose="020B0604020202020204" pitchFamily="34" charset="0"/>
              </a:rPr>
              <a:t>);</a:t>
            </a:r>
          </a:p>
          <a:p>
            <a:pPr algn="r" rtl="1">
              <a:lnSpc>
                <a:spcPct val="150000"/>
              </a:lnSpc>
            </a:pPr>
            <a:r>
              <a:rPr kumimoji="0" lang="en-US" altLang="en-US" sz="1400" b="0" i="1" u="none" strike="noStrike" cap="none" normalizeH="0" baseline="0" dirty="0" err="1">
                <a:ln>
                  <a:noFill/>
                </a:ln>
                <a:solidFill>
                  <a:schemeClr val="tx1"/>
                </a:solidFill>
                <a:effectLst/>
                <a:latin typeface="Arial" panose="020B0604020202020204" pitchFamily="34" charset="0"/>
              </a:rPr>
              <a:t>Firebase.RTDB.setBool</a:t>
            </a:r>
            <a:r>
              <a:rPr kumimoji="0" lang="en-US" altLang="en-US" sz="1400" b="0" i="1" u="none" strike="noStrike" cap="none" normalizeH="0" baseline="0" dirty="0">
                <a:ln>
                  <a:noFill/>
                </a:ln>
                <a:solidFill>
                  <a:schemeClr val="tx1"/>
                </a:solidFill>
                <a:effectLst/>
                <a:latin typeface="Arial" panose="020B0604020202020204" pitchFamily="34" charset="0"/>
              </a:rPr>
              <a:t>(&amp;</a:t>
            </a:r>
            <a:r>
              <a:rPr kumimoji="0" lang="en-US" altLang="en-US" sz="1400" b="0" i="1" u="none" strike="noStrike" cap="none" normalizeH="0" baseline="0" dirty="0" err="1">
                <a:ln>
                  <a:noFill/>
                </a:ln>
                <a:solidFill>
                  <a:schemeClr val="tx1"/>
                </a:solidFill>
                <a:effectLst/>
                <a:latin typeface="Arial" panose="020B0604020202020204" pitchFamily="34" charset="0"/>
              </a:rPr>
              <a:t>fbdo</a:t>
            </a:r>
            <a:r>
              <a:rPr kumimoji="0" lang="en-US" altLang="en-US" sz="1400" b="0" i="1" u="none" strike="noStrike" cap="none" normalizeH="0" baseline="0" dirty="0">
                <a:ln>
                  <a:noFill/>
                </a:ln>
                <a:solidFill>
                  <a:schemeClr val="tx1"/>
                </a:solidFill>
                <a:effectLst/>
                <a:latin typeface="Arial" panose="020B0604020202020204" pitchFamily="34" charset="0"/>
              </a:rPr>
              <a:t>, "plant/</a:t>
            </a:r>
            <a:r>
              <a:rPr kumimoji="0" lang="en-US" altLang="en-US" sz="1400" b="0" i="1" u="none" strike="noStrike" cap="none" normalizeH="0" baseline="0" dirty="0" err="1">
                <a:ln>
                  <a:noFill/>
                </a:ln>
                <a:solidFill>
                  <a:schemeClr val="tx1"/>
                </a:solidFill>
                <a:effectLst/>
                <a:latin typeface="Arial" panose="020B0604020202020204" pitchFamily="34" charset="0"/>
              </a:rPr>
              <a:t>pump_status</a:t>
            </a:r>
            <a:r>
              <a:rPr kumimoji="0" lang="en-US" altLang="en-US" sz="1400" b="0" i="1" u="none" strike="noStrike" cap="none" normalizeH="0" baseline="0" dirty="0">
                <a:ln>
                  <a:noFill/>
                </a:ln>
                <a:solidFill>
                  <a:schemeClr val="tx1"/>
                </a:solidFill>
                <a:effectLst/>
                <a:latin typeface="Arial" panose="020B0604020202020204" pitchFamily="34" charset="0"/>
              </a:rPr>
              <a:t>", </a:t>
            </a:r>
            <a:r>
              <a:rPr kumimoji="0" lang="en-US" altLang="en-US" sz="1400" b="0" i="1" u="none" strike="noStrike" cap="none" normalizeH="0" baseline="0" dirty="0" err="1">
                <a:ln>
                  <a:noFill/>
                </a:ln>
                <a:solidFill>
                  <a:schemeClr val="tx1"/>
                </a:solidFill>
                <a:effectLst/>
                <a:latin typeface="Arial" panose="020B0604020202020204" pitchFamily="34" charset="0"/>
              </a:rPr>
              <a:t>pumpOn</a:t>
            </a:r>
            <a:r>
              <a:rPr kumimoji="0" lang="en-US" altLang="en-US" sz="1400" b="0" i="1"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5214213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416D1-F768-25A1-5A2B-BFD58170D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87D4F-405E-E3DF-1918-43B41435AFDA}"/>
              </a:ext>
            </a:extLst>
          </p:cNvPr>
          <p:cNvSpPr>
            <a:spLocks noGrp="1"/>
          </p:cNvSpPr>
          <p:nvPr>
            <p:ph type="title"/>
          </p:nvPr>
        </p:nvSpPr>
        <p:spPr/>
        <p:txBody>
          <a:bodyPr/>
          <a:lstStyle/>
          <a:p>
            <a:pPr algn="ctr" rtl="1"/>
            <a:r>
              <a:rPr lang="ar-YE" b="1" dirty="0"/>
              <a:t>الميزات الأساسية للنظام</a:t>
            </a:r>
            <a:endParaRPr lang="en-US" dirty="0"/>
          </a:p>
        </p:txBody>
      </p:sp>
      <p:sp>
        <p:nvSpPr>
          <p:cNvPr id="4" name="Rectangle 2">
            <a:extLst>
              <a:ext uri="{FF2B5EF4-FFF2-40B4-BE49-F238E27FC236}">
                <a16:creationId xmlns:a16="http://schemas.microsoft.com/office/drawing/2014/main" id="{41035FC8-CA4A-85F6-4ABF-690670BEB2CF}"/>
              </a:ext>
            </a:extLst>
          </p:cNvPr>
          <p:cNvSpPr>
            <a:spLocks noChangeArrowheads="1"/>
          </p:cNvSpPr>
          <p:nvPr/>
        </p:nvSpPr>
        <p:spPr bwMode="auto">
          <a:xfrm rot="10800000" flipV="1">
            <a:off x="1458930" y="1639729"/>
            <a:ext cx="9698805"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r" defTabSz="914400" rtl="1" eaLnBrk="0" fontAlgn="base" latinLnBrk="0" hangingPunct="0">
              <a:lnSpc>
                <a:spcPct val="150000"/>
              </a:lnSpc>
              <a:spcBef>
                <a:spcPct val="0"/>
              </a:spcBef>
              <a:spcAft>
                <a:spcPct val="0"/>
              </a:spcAft>
              <a:buClrTx/>
              <a:buSzTx/>
              <a:buFont typeface="+mj-lt"/>
              <a:buAutoNum type="arabicPeriod"/>
              <a:tabLst/>
            </a:pPr>
            <a:r>
              <a:rPr kumimoji="0" lang="ar-SA"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التحكم الذكي في الري</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lvl="1" indent="-285750" algn="r" defTabSz="914400" rtl="1" eaLnBrk="0" fontAlgn="base" hangingPunct="0">
              <a:lnSpc>
                <a:spcPct val="150000"/>
              </a:lnSpc>
              <a:spcBef>
                <a:spcPct val="0"/>
              </a:spcBef>
              <a:spcAft>
                <a:spcPct val="0"/>
              </a:spcAft>
              <a:buFont typeface="Arial" panose="020B0604020202020204" pitchFamily="34" charset="0"/>
              <a:buChar char="•"/>
            </a:pPr>
            <a:r>
              <a:rPr kumimoji="0" lang="ar-SA"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ري التربة تلقائيًا عند انخفاض نسبة الرطوبة</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lang="en-US" altLang="en-US" dirty="0">
              <a:latin typeface="Arial" panose="020B0604020202020204" pitchFamily="34" charset="0"/>
            </a:endParaRPr>
          </a:p>
          <a:p>
            <a:pPr marL="742950" lvl="1" indent="-285750" algn="r" defTabSz="914400" rtl="1" eaLnBrk="0" fontAlgn="base" hangingPunct="0">
              <a:lnSpc>
                <a:spcPct val="150000"/>
              </a:lnSpc>
              <a:spcBef>
                <a:spcPct val="0"/>
              </a:spcBef>
              <a:spcAft>
                <a:spcPct val="0"/>
              </a:spcAft>
              <a:buFont typeface="Arial" panose="020B0604020202020204" pitchFamily="34" charset="0"/>
              <a:buChar char="•"/>
            </a:pPr>
            <a:r>
              <a:rPr kumimoji="0" lang="ar-SA"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إمكانية التحكم اليدوي عبر</a:t>
            </a:r>
            <a:r>
              <a:rPr kumimoji="0" lang="en-US" altLang="en-US" sz="1800" b="0" i="0" u="none" strike="noStrike" cap="none" normalizeH="0" baseline="0" dirty="0">
                <a:ln>
                  <a:noFill/>
                </a:ln>
                <a:solidFill>
                  <a:schemeClr val="tx1"/>
                </a:solidFill>
                <a:effectLst/>
                <a:latin typeface="Arial" panose="020B0604020202020204" pitchFamily="34" charset="0"/>
              </a:rPr>
              <a:t> Firebase.</a:t>
            </a:r>
          </a:p>
          <a:p>
            <a:pPr marL="342900" marR="0" lvl="0" indent="-342900" algn="r" defTabSz="914400" rtl="1" eaLnBrk="0" fontAlgn="base" latinLnBrk="0" hangingPunct="0">
              <a:lnSpc>
                <a:spcPct val="150000"/>
              </a:lnSpc>
              <a:spcBef>
                <a:spcPct val="0"/>
              </a:spcBef>
              <a:spcAft>
                <a:spcPct val="0"/>
              </a:spcAft>
              <a:buClrTx/>
              <a:buSzTx/>
              <a:buFont typeface="+mj-lt"/>
              <a:buAutoNum type="arabicPeriod"/>
              <a:tabLst/>
            </a:pPr>
            <a:r>
              <a:rPr kumimoji="0" lang="ar-SA"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التحديث الفوري للبيانات</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ar-SA"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يتم تحديث البيانات في الوقت الحقيقي باستخدام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Realtime Database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ar-SA"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من</a:t>
            </a:r>
            <a:r>
              <a:rPr kumimoji="0" lang="en-US" altLang="en-US" sz="1800" b="0" i="0" u="none" strike="noStrike" cap="none" normalizeH="0" baseline="0" dirty="0">
                <a:ln>
                  <a:noFill/>
                </a:ln>
                <a:solidFill>
                  <a:schemeClr val="tx1"/>
                </a:solidFill>
                <a:effectLst/>
                <a:latin typeface="Arial" panose="020B0604020202020204" pitchFamily="34" charset="0"/>
              </a:rPr>
              <a:t> Firebase </a:t>
            </a:r>
          </a:p>
          <a:p>
            <a:pPr marL="342900" marR="0" lvl="0" indent="-342900" algn="r" defTabSz="914400" rtl="1" eaLnBrk="0" fontAlgn="base" latinLnBrk="0" hangingPunct="0">
              <a:lnSpc>
                <a:spcPct val="150000"/>
              </a:lnSpc>
              <a:spcBef>
                <a:spcPct val="0"/>
              </a:spcBef>
              <a:spcAft>
                <a:spcPct val="0"/>
              </a:spcAft>
              <a:buClrTx/>
              <a:buSzTx/>
              <a:buFont typeface="+mj-lt"/>
              <a:buAutoNum type="arabicPeriod"/>
              <a:tabLst/>
            </a:pPr>
            <a:r>
              <a:rPr kumimoji="0" lang="ar-SA"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سهولة الاستخدام والتكامل</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lvl="1" indent="-285750" algn="r" defTabSz="914400" rtl="1" eaLnBrk="0" fontAlgn="base" hangingPunct="0">
              <a:lnSpc>
                <a:spcPct val="150000"/>
              </a:lnSpc>
              <a:spcBef>
                <a:spcPct val="0"/>
              </a:spcBef>
              <a:spcAft>
                <a:spcPct val="0"/>
              </a:spcAft>
              <a:buFont typeface="Arial" panose="020B0604020202020204" pitchFamily="34" charset="0"/>
              <a:buChar char="•"/>
            </a:pPr>
            <a:r>
              <a:rPr kumimoji="0" lang="ar-SA"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المشروع يعتمد على منصة</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Arduino </a:t>
            </a:r>
            <a:r>
              <a:rPr kumimoji="0" lang="ar-SA"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الشهيرة وسهلة الاستخدام</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lang="en-US" altLang="en-US" dirty="0">
              <a:latin typeface="Arial" panose="020B0604020202020204" pitchFamily="34" charset="0"/>
            </a:endParaRPr>
          </a:p>
          <a:p>
            <a:pPr marL="742950" lvl="1" indent="-285750" algn="r" defTabSz="914400" rtl="1" eaLnBrk="0" fontAlgn="base" hangingPunct="0">
              <a:lnSpc>
                <a:spcPct val="150000"/>
              </a:lnSpc>
              <a:spcBef>
                <a:spcPct val="0"/>
              </a:spcBef>
              <a:spcAft>
                <a:spcPct val="0"/>
              </a:spcAft>
              <a:buFont typeface="Arial" panose="020B0604020202020204" pitchFamily="34" charset="0"/>
              <a:buChar char="•"/>
            </a:pPr>
            <a:r>
              <a:rPr kumimoji="0" lang="ar-SA"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تُبسّط إدارة البيانات</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611439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8D048-E283-8D95-6DEA-1B45F99050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E3E4B-3938-C7A3-5057-A4F564E3EEEE}"/>
              </a:ext>
            </a:extLst>
          </p:cNvPr>
          <p:cNvSpPr>
            <a:spLocks noGrp="1"/>
          </p:cNvSpPr>
          <p:nvPr>
            <p:ph type="title"/>
          </p:nvPr>
        </p:nvSpPr>
        <p:spPr/>
        <p:txBody>
          <a:bodyPr/>
          <a:lstStyle/>
          <a:p>
            <a:pPr algn="ctr" rtl="1"/>
            <a:r>
              <a:rPr lang="ar-YE" b="1" dirty="0"/>
              <a:t>نتائج القراءات </a:t>
            </a:r>
            <a:r>
              <a:rPr lang="ar-YE" b="1" dirty="0" err="1"/>
              <a:t>الأوله</a:t>
            </a:r>
            <a:endParaRPr lang="en-US" dirty="0"/>
          </a:p>
        </p:txBody>
      </p:sp>
      <p:pic>
        <p:nvPicPr>
          <p:cNvPr id="5" name="Picture 4" descr="A screenshot of a computer&#10;&#10;Description automatically generated">
            <a:extLst>
              <a:ext uri="{FF2B5EF4-FFF2-40B4-BE49-F238E27FC236}">
                <a16:creationId xmlns:a16="http://schemas.microsoft.com/office/drawing/2014/main" id="{D315DA44-0FDB-E2E2-83BF-9690F012BE83}"/>
              </a:ext>
            </a:extLst>
          </p:cNvPr>
          <p:cNvPicPr>
            <a:picLocks noChangeAspect="1"/>
          </p:cNvPicPr>
          <p:nvPr/>
        </p:nvPicPr>
        <p:blipFill>
          <a:blip r:embed="rId2"/>
          <a:srcRect l="18753" t="64561" r="35437" b="2982"/>
          <a:stretch/>
        </p:blipFill>
        <p:spPr>
          <a:xfrm>
            <a:off x="2731169" y="2701759"/>
            <a:ext cx="4932948" cy="2225842"/>
          </a:xfrm>
          <a:prstGeom prst="rect">
            <a:avLst/>
          </a:prstGeom>
        </p:spPr>
      </p:pic>
    </p:spTree>
    <p:extLst>
      <p:ext uri="{BB962C8B-B14F-4D97-AF65-F5344CB8AC3E}">
        <p14:creationId xmlns:p14="http://schemas.microsoft.com/office/powerpoint/2010/main" val="6262313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80D70-6421-6A03-C671-45BB3C536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D122C-905A-1380-D9B8-194E9D924AFD}"/>
              </a:ext>
            </a:extLst>
          </p:cNvPr>
          <p:cNvSpPr>
            <a:spLocks noGrp="1"/>
          </p:cNvSpPr>
          <p:nvPr>
            <p:ph type="title"/>
          </p:nvPr>
        </p:nvSpPr>
        <p:spPr/>
        <p:txBody>
          <a:bodyPr/>
          <a:lstStyle/>
          <a:p>
            <a:pPr algn="ctr" rtl="1"/>
            <a:r>
              <a:rPr lang="ar-YE" b="1" dirty="0"/>
              <a:t>التحكم في الري</a:t>
            </a:r>
            <a:endParaRPr lang="en-US" dirty="0"/>
          </a:p>
        </p:txBody>
      </p:sp>
      <p:pic>
        <p:nvPicPr>
          <p:cNvPr id="4" name="Picture 3" descr="A screenshot of a computer&#10;&#10;Description automatically generated">
            <a:extLst>
              <a:ext uri="{FF2B5EF4-FFF2-40B4-BE49-F238E27FC236}">
                <a16:creationId xmlns:a16="http://schemas.microsoft.com/office/drawing/2014/main" id="{DBDBEF92-2A5A-CA4C-902B-3C81C2E1FC06}"/>
              </a:ext>
            </a:extLst>
          </p:cNvPr>
          <p:cNvPicPr>
            <a:picLocks noChangeAspect="1"/>
          </p:cNvPicPr>
          <p:nvPr/>
        </p:nvPicPr>
        <p:blipFill>
          <a:blip r:embed="rId2"/>
          <a:srcRect l="23222" t="8889" r="35660" b="63158"/>
          <a:stretch/>
        </p:blipFill>
        <p:spPr>
          <a:xfrm>
            <a:off x="2548346" y="1892968"/>
            <a:ext cx="7095307" cy="3072063"/>
          </a:xfrm>
          <a:prstGeom prst="rect">
            <a:avLst/>
          </a:prstGeom>
        </p:spPr>
      </p:pic>
    </p:spTree>
    <p:extLst>
      <p:ext uri="{BB962C8B-B14F-4D97-AF65-F5344CB8AC3E}">
        <p14:creationId xmlns:p14="http://schemas.microsoft.com/office/powerpoint/2010/main" val="22295633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7F18C-E53C-E241-8A2A-4DA49A9D3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6AE32-CC57-C5A1-81DF-E9EFE42684F6}"/>
              </a:ext>
            </a:extLst>
          </p:cNvPr>
          <p:cNvSpPr>
            <a:spLocks noGrp="1"/>
          </p:cNvSpPr>
          <p:nvPr>
            <p:ph type="title"/>
          </p:nvPr>
        </p:nvSpPr>
        <p:spPr/>
        <p:txBody>
          <a:bodyPr/>
          <a:lstStyle/>
          <a:p>
            <a:pPr algn="ctr" rtl="1"/>
            <a:r>
              <a:rPr lang="ar-YE" b="1" dirty="0"/>
              <a:t>المكتبات </a:t>
            </a:r>
            <a:r>
              <a:rPr lang="ar-YE" b="1" dirty="0" err="1"/>
              <a:t>المستخدمه</a:t>
            </a:r>
            <a:endParaRPr lang="en-US" dirty="0"/>
          </a:p>
        </p:txBody>
      </p:sp>
      <p:pic>
        <p:nvPicPr>
          <p:cNvPr id="5" name="Picture 4" descr="A screenshot of a computer&#10;&#10;Description automatically generated">
            <a:extLst>
              <a:ext uri="{FF2B5EF4-FFF2-40B4-BE49-F238E27FC236}">
                <a16:creationId xmlns:a16="http://schemas.microsoft.com/office/drawing/2014/main" id="{6CD0947A-A6CF-0970-157D-7EE43B5E2062}"/>
              </a:ext>
            </a:extLst>
          </p:cNvPr>
          <p:cNvPicPr>
            <a:picLocks noChangeAspect="1"/>
          </p:cNvPicPr>
          <p:nvPr/>
        </p:nvPicPr>
        <p:blipFill>
          <a:blip r:embed="rId2"/>
          <a:srcRect l="6978" t="14035" r="66403" b="73860"/>
          <a:stretch/>
        </p:blipFill>
        <p:spPr>
          <a:xfrm>
            <a:off x="3342599" y="2630745"/>
            <a:ext cx="5506802" cy="1596510"/>
          </a:xfrm>
          <a:prstGeom prst="rect">
            <a:avLst/>
          </a:prstGeom>
        </p:spPr>
      </p:pic>
    </p:spTree>
    <p:extLst>
      <p:ext uri="{BB962C8B-B14F-4D97-AF65-F5344CB8AC3E}">
        <p14:creationId xmlns:p14="http://schemas.microsoft.com/office/powerpoint/2010/main" val="2033576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D16A8-32FD-CBA8-3949-A785145B94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2419F-2679-74E7-7231-CBB733014EC2}"/>
              </a:ext>
            </a:extLst>
          </p:cNvPr>
          <p:cNvSpPr>
            <a:spLocks noGrp="1"/>
          </p:cNvSpPr>
          <p:nvPr>
            <p:ph type="title"/>
          </p:nvPr>
        </p:nvSpPr>
        <p:spPr/>
        <p:txBody>
          <a:bodyPr/>
          <a:lstStyle/>
          <a:p>
            <a:pPr algn="ctr" rtl="1"/>
            <a:r>
              <a:rPr lang="ar-YE" b="1" dirty="0"/>
              <a:t>توصيل </a:t>
            </a:r>
            <a:r>
              <a:rPr lang="ar-YE" b="1" dirty="0" err="1"/>
              <a:t>الاردينو</a:t>
            </a:r>
            <a:r>
              <a:rPr lang="ar-YE" b="1" dirty="0"/>
              <a:t> بي قاعدة البيانات</a:t>
            </a:r>
            <a:endParaRPr lang="en-US" dirty="0"/>
          </a:p>
        </p:txBody>
      </p:sp>
      <p:pic>
        <p:nvPicPr>
          <p:cNvPr id="4" name="Picture 3" descr="A screenshot of a computer&#10;&#10;Description automatically generated">
            <a:extLst>
              <a:ext uri="{FF2B5EF4-FFF2-40B4-BE49-F238E27FC236}">
                <a16:creationId xmlns:a16="http://schemas.microsoft.com/office/drawing/2014/main" id="{703A2531-81CF-50C3-4D10-6C9C3241B368}"/>
              </a:ext>
            </a:extLst>
          </p:cNvPr>
          <p:cNvPicPr>
            <a:picLocks noChangeAspect="1"/>
          </p:cNvPicPr>
          <p:nvPr/>
        </p:nvPicPr>
        <p:blipFill>
          <a:blip r:embed="rId2"/>
          <a:srcRect l="23754" t="28149" r="33299" b="64737"/>
          <a:stretch/>
        </p:blipFill>
        <p:spPr>
          <a:xfrm>
            <a:off x="1792314" y="2384927"/>
            <a:ext cx="7481688" cy="790166"/>
          </a:xfrm>
          <a:prstGeom prst="rect">
            <a:avLst/>
          </a:prstGeom>
        </p:spPr>
      </p:pic>
    </p:spTree>
    <p:extLst>
      <p:ext uri="{BB962C8B-B14F-4D97-AF65-F5344CB8AC3E}">
        <p14:creationId xmlns:p14="http://schemas.microsoft.com/office/powerpoint/2010/main" val="11828395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4EE50-32BD-3925-E1EF-A3CB5978F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ADB4D-D390-3BEF-5DA6-497F6EB908F4}"/>
              </a:ext>
            </a:extLst>
          </p:cNvPr>
          <p:cNvSpPr>
            <a:spLocks noGrp="1"/>
          </p:cNvSpPr>
          <p:nvPr>
            <p:ph type="title"/>
          </p:nvPr>
        </p:nvSpPr>
        <p:spPr>
          <a:xfrm>
            <a:off x="1797666" y="2768600"/>
            <a:ext cx="8596668" cy="1320800"/>
          </a:xfrm>
        </p:spPr>
        <p:txBody>
          <a:bodyPr>
            <a:normAutofit/>
          </a:bodyPr>
          <a:lstStyle/>
          <a:p>
            <a:pPr algn="ctr" rtl="1"/>
            <a:r>
              <a:rPr lang="ar-YE" sz="4400" b="1" dirty="0"/>
              <a:t>الأخطاء التي واجهتنا</a:t>
            </a:r>
            <a:endParaRPr lang="en-US" sz="4400" dirty="0"/>
          </a:p>
        </p:txBody>
      </p:sp>
    </p:spTree>
    <p:extLst>
      <p:ext uri="{BB962C8B-B14F-4D97-AF65-F5344CB8AC3E}">
        <p14:creationId xmlns:p14="http://schemas.microsoft.com/office/powerpoint/2010/main" val="6416993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E7EF5-F3E1-E90D-665C-09DC1E50C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6789A-1630-D513-1166-1DA025BBCCDF}"/>
              </a:ext>
            </a:extLst>
          </p:cNvPr>
          <p:cNvSpPr>
            <a:spLocks noGrp="1"/>
          </p:cNvSpPr>
          <p:nvPr>
            <p:ph type="title"/>
          </p:nvPr>
        </p:nvSpPr>
        <p:spPr/>
        <p:txBody>
          <a:bodyPr/>
          <a:lstStyle/>
          <a:p>
            <a:pPr algn="ctr" rtl="1"/>
            <a:r>
              <a:rPr lang="ar-YE" b="1" dirty="0"/>
              <a:t>خطا 1</a:t>
            </a:r>
            <a:endParaRPr lang="en-US" dirty="0"/>
          </a:p>
        </p:txBody>
      </p:sp>
      <p:pic>
        <p:nvPicPr>
          <p:cNvPr id="6" name="Picture 5">
            <a:extLst>
              <a:ext uri="{FF2B5EF4-FFF2-40B4-BE49-F238E27FC236}">
                <a16:creationId xmlns:a16="http://schemas.microsoft.com/office/drawing/2014/main" id="{062D3A4C-10E0-9AAB-CC56-F05A70A6FEC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57926" y="1894305"/>
            <a:ext cx="5943600" cy="1097280"/>
          </a:xfrm>
          <a:prstGeom prst="rect">
            <a:avLst/>
          </a:prstGeom>
          <a:noFill/>
          <a:ln>
            <a:noFill/>
          </a:ln>
        </p:spPr>
      </p:pic>
      <p:sp>
        <p:nvSpPr>
          <p:cNvPr id="8" name="TextBox 7">
            <a:extLst>
              <a:ext uri="{FF2B5EF4-FFF2-40B4-BE49-F238E27FC236}">
                <a16:creationId xmlns:a16="http://schemas.microsoft.com/office/drawing/2014/main" id="{49297D71-4F2B-4665-AB64-B6AE8B81BE2A}"/>
              </a:ext>
            </a:extLst>
          </p:cNvPr>
          <p:cNvSpPr txBox="1"/>
          <p:nvPr/>
        </p:nvSpPr>
        <p:spPr>
          <a:xfrm>
            <a:off x="2179721" y="3439181"/>
            <a:ext cx="6100010" cy="2370136"/>
          </a:xfrm>
          <a:prstGeom prst="rect">
            <a:avLst/>
          </a:prstGeom>
          <a:noFill/>
        </p:spPr>
        <p:txBody>
          <a:bodyPr wrap="square">
            <a:spAutoFit/>
          </a:bodyPr>
          <a:lstStyle/>
          <a:p>
            <a:pPr marL="457200" marR="0" algn="r" rtl="1">
              <a:lnSpc>
                <a:spcPct val="115000"/>
              </a:lnSpc>
              <a:spcAft>
                <a:spcPts val="1000"/>
              </a:spcAft>
            </a:pPr>
            <a:r>
              <a:rPr lang="ar-SA" sz="1800" b="1" kern="100" dirty="0">
                <a:effectLst/>
                <a:latin typeface="Aptos" panose="020B0004020202020204" pitchFamily="34" charset="0"/>
                <a:ea typeface="Aptos" panose="020B0004020202020204" pitchFamily="34" charset="0"/>
                <a:cs typeface="Arial" panose="020B0604020202020204" pitchFamily="34" charset="0"/>
              </a:rPr>
              <a:t>السبب</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457200" marR="0" algn="r" rtl="1">
              <a:lnSpc>
                <a:spcPct val="115000"/>
              </a:lnSpc>
              <a:spcAft>
                <a:spcPts val="1000"/>
              </a:spcAft>
            </a:pPr>
            <a:r>
              <a:rPr lang="ar-SA" sz="1800" kern="100" dirty="0">
                <a:effectLst/>
                <a:latin typeface="Aptos" panose="020B0004020202020204" pitchFamily="34" charset="0"/>
                <a:ea typeface="Aptos" panose="020B0004020202020204" pitchFamily="34" charset="0"/>
                <a:cs typeface="Arial" panose="020B0604020202020204" pitchFamily="34" charset="0"/>
              </a:rPr>
              <a:t>المشكلة تحدث عندما يحاول البرنامج استدعاء مكتبة </a:t>
            </a:r>
            <a:r>
              <a:rPr lang="en-US" sz="1800" kern="100" dirty="0" err="1">
                <a:effectLst/>
                <a:latin typeface="Aptos" panose="020B0004020202020204" pitchFamily="34" charset="0"/>
                <a:ea typeface="Aptos" panose="020B0004020202020204" pitchFamily="34" charset="0"/>
                <a:cs typeface="Arial" panose="020B0604020202020204" pitchFamily="34" charset="0"/>
              </a:rPr>
              <a:t>DHT.h</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ar-SA" sz="1800" kern="100" dirty="0">
                <a:effectLst/>
                <a:latin typeface="Aptos" panose="020B0004020202020204" pitchFamily="34" charset="0"/>
                <a:ea typeface="Aptos" panose="020B0004020202020204" pitchFamily="34" charset="0"/>
                <a:cs typeface="Arial" panose="020B0604020202020204" pitchFamily="34" charset="0"/>
              </a:rPr>
              <a:t>لكنها غير مثبتة في بيئة</a:t>
            </a:r>
            <a:r>
              <a:rPr lang="en-US" sz="1800" kern="100" dirty="0">
                <a:effectLst/>
                <a:latin typeface="Aptos" panose="020B0004020202020204" pitchFamily="34" charset="0"/>
                <a:ea typeface="Aptos" panose="020B0004020202020204" pitchFamily="34" charset="0"/>
                <a:cs typeface="Arial" panose="020B0604020202020204" pitchFamily="34" charset="0"/>
              </a:rPr>
              <a:t> Arduino IDE.</a:t>
            </a:r>
          </a:p>
          <a:p>
            <a:pPr marL="457200" marR="0" algn="r" rtl="1">
              <a:lnSpc>
                <a:spcPct val="115000"/>
              </a:lnSpc>
              <a:spcAft>
                <a:spcPts val="1000"/>
              </a:spcAft>
            </a:pPr>
            <a:r>
              <a:rPr lang="ar-SA" sz="1800" b="1" kern="100" dirty="0">
                <a:effectLst/>
                <a:latin typeface="Aptos" panose="020B0004020202020204" pitchFamily="34" charset="0"/>
                <a:ea typeface="Aptos" panose="020B0004020202020204" pitchFamily="34" charset="0"/>
                <a:cs typeface="Arial" panose="020B0604020202020204" pitchFamily="34" charset="0"/>
              </a:rPr>
              <a:t>الحل</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457200" marR="0" algn="r" rtl="1">
              <a:lnSpc>
                <a:spcPct val="115000"/>
              </a:lnSpc>
              <a:spcAft>
                <a:spcPts val="1000"/>
              </a:spcAft>
            </a:pPr>
            <a:r>
              <a:rPr lang="ar-SA" sz="1800" kern="100" dirty="0">
                <a:effectLst/>
                <a:latin typeface="Aptos" panose="020B0004020202020204" pitchFamily="34" charset="0"/>
                <a:ea typeface="Aptos" panose="020B0004020202020204" pitchFamily="34" charset="0"/>
                <a:cs typeface="Arial" panose="020B0604020202020204" pitchFamily="34" charset="0"/>
              </a:rPr>
              <a:t>لقد قمت بحل المشكلة بطريقة صحيحة عن طريق تحميل مكتبة أخرى مناسبة للتعامل مع حساس</a:t>
            </a:r>
            <a:r>
              <a:rPr lang="en-US" sz="1800" kern="100" dirty="0">
                <a:effectLst/>
                <a:latin typeface="Aptos" panose="020B0004020202020204" pitchFamily="34" charset="0"/>
                <a:ea typeface="Aptos" panose="020B0004020202020204" pitchFamily="34" charset="0"/>
                <a:cs typeface="Arial" panose="020B0604020202020204" pitchFamily="34" charset="0"/>
              </a:rPr>
              <a:t> DHT.</a:t>
            </a:r>
          </a:p>
        </p:txBody>
      </p:sp>
    </p:spTree>
    <p:extLst>
      <p:ext uri="{BB962C8B-B14F-4D97-AF65-F5344CB8AC3E}">
        <p14:creationId xmlns:p14="http://schemas.microsoft.com/office/powerpoint/2010/main" val="7973481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AECDC-272D-DAB4-B3C7-88F45C2B9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EF381-C35F-E103-CE1D-1B1A025DD942}"/>
              </a:ext>
            </a:extLst>
          </p:cNvPr>
          <p:cNvSpPr>
            <a:spLocks noGrp="1"/>
          </p:cNvSpPr>
          <p:nvPr>
            <p:ph type="title"/>
          </p:nvPr>
        </p:nvSpPr>
        <p:spPr/>
        <p:txBody>
          <a:bodyPr/>
          <a:lstStyle/>
          <a:p>
            <a:pPr algn="ctr" rtl="1"/>
            <a:r>
              <a:rPr lang="ar-YE" b="1" dirty="0"/>
              <a:t>خطا 2</a:t>
            </a:r>
            <a:endParaRPr lang="en-US" dirty="0"/>
          </a:p>
        </p:txBody>
      </p:sp>
      <p:sp>
        <p:nvSpPr>
          <p:cNvPr id="8" name="TextBox 7">
            <a:extLst>
              <a:ext uri="{FF2B5EF4-FFF2-40B4-BE49-F238E27FC236}">
                <a16:creationId xmlns:a16="http://schemas.microsoft.com/office/drawing/2014/main" id="{4125BBC5-979F-CEBE-A171-8A76C5CFFF42}"/>
              </a:ext>
            </a:extLst>
          </p:cNvPr>
          <p:cNvSpPr txBox="1"/>
          <p:nvPr/>
        </p:nvSpPr>
        <p:spPr>
          <a:xfrm>
            <a:off x="2179721" y="3439181"/>
            <a:ext cx="6100010" cy="3007233"/>
          </a:xfrm>
          <a:prstGeom prst="rect">
            <a:avLst/>
          </a:prstGeom>
          <a:noFill/>
        </p:spPr>
        <p:txBody>
          <a:bodyPr wrap="square">
            <a:spAutoFit/>
          </a:bodyPr>
          <a:lstStyle/>
          <a:p>
            <a:pPr marL="457200" marR="0" algn="r" rtl="1">
              <a:lnSpc>
                <a:spcPct val="115000"/>
              </a:lnSpc>
              <a:spcAft>
                <a:spcPts val="1000"/>
              </a:spcAft>
            </a:pPr>
            <a:r>
              <a:rPr lang="ar-SA" sz="1800" b="1" kern="100" dirty="0">
                <a:effectLst/>
                <a:latin typeface="Aptos" panose="020B0004020202020204" pitchFamily="34" charset="0"/>
                <a:ea typeface="Aptos" panose="020B0004020202020204" pitchFamily="34" charset="0"/>
                <a:cs typeface="Arial" panose="020B0604020202020204" pitchFamily="34" charset="0"/>
              </a:rPr>
              <a:t>السبب</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457200" marR="0" algn="r" rtl="1">
              <a:lnSpc>
                <a:spcPct val="115000"/>
              </a:lnSpc>
              <a:spcAft>
                <a:spcPts val="1000"/>
              </a:spcAft>
            </a:pPr>
            <a:r>
              <a:rPr lang="ar-SA" sz="1800" kern="100" dirty="0">
                <a:effectLst/>
                <a:latin typeface="Aptos" panose="020B0004020202020204" pitchFamily="34" charset="0"/>
                <a:ea typeface="Aptos" panose="020B0004020202020204" pitchFamily="34" charset="0"/>
                <a:cs typeface="Arial" panose="020B0604020202020204" pitchFamily="34" charset="0"/>
              </a:rPr>
              <a:t>الخطأ حدث لأن النظام أو المكتبة التي تستخدمها تتوقع أن يتم إدخال عنوان</a:t>
            </a:r>
            <a:r>
              <a:rPr lang="en-US" sz="1800" kern="100" dirty="0">
                <a:effectLst/>
                <a:latin typeface="Aptos" panose="020B0004020202020204" pitchFamily="34" charset="0"/>
                <a:ea typeface="Aptos" panose="020B0004020202020204" pitchFamily="34" charset="0"/>
                <a:cs typeface="Arial" panose="020B0604020202020204" pitchFamily="34" charset="0"/>
              </a:rPr>
              <a:t> URL </a:t>
            </a:r>
            <a:r>
              <a:rPr lang="ar-SA" sz="1800" kern="100" dirty="0">
                <a:effectLst/>
                <a:latin typeface="Aptos" panose="020B0004020202020204" pitchFamily="34" charset="0"/>
                <a:ea typeface="Aptos" panose="020B0004020202020204" pitchFamily="34" charset="0"/>
                <a:cs typeface="Arial" panose="020B0604020202020204" pitchFamily="34" charset="0"/>
              </a:rPr>
              <a:t>لقاعدة البيانات بدون الجزء </a:t>
            </a:r>
            <a:r>
              <a:rPr lang="en-US" sz="1800" kern="100" dirty="0">
                <a:effectLst/>
                <a:latin typeface="Aptos" panose="020B0004020202020204" pitchFamily="34" charset="0"/>
                <a:ea typeface="Aptos" panose="020B0004020202020204" pitchFamily="34" charset="0"/>
                <a:cs typeface="Arial" panose="020B0604020202020204" pitchFamily="34" charset="0"/>
              </a:rPr>
              <a:t>https://. </a:t>
            </a:r>
            <a:r>
              <a:rPr lang="ar-SA" sz="1800" kern="100" dirty="0">
                <a:effectLst/>
                <a:latin typeface="Aptos" panose="020B0004020202020204" pitchFamily="34" charset="0"/>
                <a:ea typeface="Aptos" panose="020B0004020202020204" pitchFamily="34" charset="0"/>
                <a:cs typeface="Arial" panose="020B0604020202020204" pitchFamily="34" charset="0"/>
              </a:rPr>
              <a:t>عند إضافة </a:t>
            </a:r>
            <a:r>
              <a:rPr lang="en-US" sz="1800" kern="100" dirty="0">
                <a:effectLst/>
                <a:latin typeface="Aptos" panose="020B0004020202020204" pitchFamily="34" charset="0"/>
                <a:ea typeface="Aptos" panose="020B0004020202020204" pitchFamily="34" charset="0"/>
                <a:cs typeface="Arial" panose="020B0604020202020204" pitchFamily="34" charset="0"/>
              </a:rPr>
              <a:t>https:// </a:t>
            </a:r>
            <a:r>
              <a:rPr lang="ar-SA" sz="1800" kern="100" dirty="0">
                <a:effectLst/>
                <a:latin typeface="Aptos" panose="020B0004020202020204" pitchFamily="34" charset="0"/>
                <a:ea typeface="Aptos" panose="020B0004020202020204" pitchFamily="34" charset="0"/>
                <a:cs typeface="Arial" panose="020B0604020202020204" pitchFamily="34" charset="0"/>
              </a:rPr>
              <a:t>يدويًا، قد يتسبب ذلك في حدوث تعارض أثناء محاولة الاتصال بقاعدة البيانات، حيث يتم إضافة البروتوكول مرتين، مما يؤدي إلى فشل الاتصال</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457200" marR="0" algn="r" rtl="1">
              <a:lnSpc>
                <a:spcPct val="115000"/>
              </a:lnSpc>
              <a:spcAft>
                <a:spcPts val="1000"/>
              </a:spcAft>
            </a:pPr>
            <a:r>
              <a:rPr lang="ar-SA" sz="1800" b="1" kern="100" dirty="0">
                <a:effectLst/>
                <a:latin typeface="Aptos" panose="020B0004020202020204" pitchFamily="34" charset="0"/>
                <a:ea typeface="Aptos" panose="020B0004020202020204" pitchFamily="34" charset="0"/>
                <a:cs typeface="Arial" panose="020B0604020202020204" pitchFamily="34" charset="0"/>
              </a:rPr>
              <a:t>الحل</a:t>
            </a:r>
            <a:r>
              <a:rPr lang="en-US" sz="1800" b="1" kern="100" dirty="0">
                <a:effectLst/>
                <a:latin typeface="Aptos" panose="020B0004020202020204" pitchFamily="34" charset="0"/>
                <a:ea typeface="Aptos" panose="020B0004020202020204" pitchFamily="34" charset="0"/>
                <a:cs typeface="Arial" panose="020B0604020202020204" pitchFamily="34" charset="0"/>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457200" marR="0" algn="r" rtl="1">
              <a:lnSpc>
                <a:spcPct val="115000"/>
              </a:lnSpc>
              <a:spcAft>
                <a:spcPts val="1000"/>
              </a:spcAft>
            </a:pPr>
            <a:r>
              <a:rPr lang="ar-SA" sz="1800" kern="100" dirty="0">
                <a:effectLst/>
                <a:latin typeface="Aptos" panose="020B0004020202020204" pitchFamily="34" charset="0"/>
                <a:ea typeface="Aptos" panose="020B0004020202020204" pitchFamily="34" charset="0"/>
                <a:cs typeface="Arial" panose="020B0604020202020204" pitchFamily="34" charset="0"/>
              </a:rPr>
              <a:t>قم بإزالة </a:t>
            </a:r>
            <a:r>
              <a:rPr lang="en-US" sz="1800" kern="100" dirty="0">
                <a:effectLst/>
                <a:latin typeface="Aptos" panose="020B0004020202020204" pitchFamily="34" charset="0"/>
                <a:ea typeface="Aptos" panose="020B0004020202020204" pitchFamily="34" charset="0"/>
                <a:cs typeface="Arial" panose="020B0604020202020204" pitchFamily="34" charset="0"/>
              </a:rPr>
              <a:t>https:// </a:t>
            </a:r>
            <a:r>
              <a:rPr lang="ar-SA" sz="1800" kern="100" dirty="0">
                <a:effectLst/>
                <a:latin typeface="Aptos" panose="020B0004020202020204" pitchFamily="34" charset="0"/>
                <a:ea typeface="Aptos" panose="020B0004020202020204" pitchFamily="34" charset="0"/>
                <a:cs typeface="Arial" panose="020B0604020202020204" pitchFamily="34" charset="0"/>
              </a:rPr>
              <a:t>من عنوان</a:t>
            </a:r>
            <a:r>
              <a:rPr lang="en-US" sz="1800" kern="100" dirty="0">
                <a:effectLst/>
                <a:latin typeface="Aptos" panose="020B0004020202020204" pitchFamily="34" charset="0"/>
                <a:ea typeface="Aptos" panose="020B0004020202020204" pitchFamily="34" charset="0"/>
                <a:cs typeface="Arial" panose="020B0604020202020204" pitchFamily="34" charset="0"/>
              </a:rPr>
              <a:t> URL </a:t>
            </a:r>
            <a:r>
              <a:rPr lang="ar-SA" sz="1800" kern="100" dirty="0">
                <a:effectLst/>
                <a:latin typeface="Aptos" panose="020B0004020202020204" pitchFamily="34" charset="0"/>
                <a:ea typeface="Aptos" panose="020B0004020202020204" pitchFamily="34" charset="0"/>
                <a:cs typeface="Arial" panose="020B0604020202020204" pitchFamily="34" charset="0"/>
              </a:rPr>
              <a:t>بحيث يبدأ مباشرة من اسم قاعدة البيانات</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45C16A23-90FD-D5BC-B1CE-944CCEEDCEB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03868" y="2212350"/>
            <a:ext cx="5943600" cy="472440"/>
          </a:xfrm>
          <a:prstGeom prst="rect">
            <a:avLst/>
          </a:prstGeom>
          <a:noFill/>
          <a:ln>
            <a:noFill/>
          </a:ln>
        </p:spPr>
      </p:pic>
    </p:spTree>
    <p:extLst>
      <p:ext uri="{BB962C8B-B14F-4D97-AF65-F5344CB8AC3E}">
        <p14:creationId xmlns:p14="http://schemas.microsoft.com/office/powerpoint/2010/main" val="30255914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22B3F-7E19-13B7-7C3F-02228FD32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DC28E-8477-3727-AF00-8BFB01295725}"/>
              </a:ext>
            </a:extLst>
          </p:cNvPr>
          <p:cNvSpPr>
            <a:spLocks noGrp="1"/>
          </p:cNvSpPr>
          <p:nvPr>
            <p:ph type="title"/>
          </p:nvPr>
        </p:nvSpPr>
        <p:spPr>
          <a:xfrm>
            <a:off x="1797666" y="2768600"/>
            <a:ext cx="8596668" cy="1320800"/>
          </a:xfrm>
        </p:spPr>
        <p:txBody>
          <a:bodyPr>
            <a:normAutofit/>
          </a:bodyPr>
          <a:lstStyle/>
          <a:p>
            <a:pPr algn="ctr" rtl="1"/>
            <a:r>
              <a:rPr lang="ar-YE" sz="4400" b="1" dirty="0"/>
              <a:t>النتائج</a:t>
            </a:r>
            <a:endParaRPr lang="en-US" sz="4400" dirty="0"/>
          </a:p>
        </p:txBody>
      </p:sp>
    </p:spTree>
    <p:extLst>
      <p:ext uri="{BB962C8B-B14F-4D97-AF65-F5344CB8AC3E}">
        <p14:creationId xmlns:p14="http://schemas.microsoft.com/office/powerpoint/2010/main" val="15901043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05056E-B292-F404-72AC-ECC7C502DB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BE325-E72C-3338-13C4-83886BAD91AE}"/>
              </a:ext>
            </a:extLst>
          </p:cNvPr>
          <p:cNvSpPr>
            <a:spLocks noGrp="1"/>
          </p:cNvSpPr>
          <p:nvPr>
            <p:ph type="title"/>
          </p:nvPr>
        </p:nvSpPr>
        <p:spPr>
          <a:xfrm>
            <a:off x="1760376" y="4704967"/>
            <a:ext cx="8380319" cy="765867"/>
          </a:xfrm>
        </p:spPr>
        <p:txBody>
          <a:bodyPr vert="horz" lIns="91440" tIns="45720" rIns="91440" bIns="45720" rtlCol="0" anchor="b">
            <a:normAutofit/>
          </a:bodyPr>
          <a:lstStyle/>
          <a:p>
            <a:pPr algn="r"/>
            <a:r>
              <a:rPr lang="en-US" sz="4400" b="1"/>
              <a:t>النتائج</a:t>
            </a:r>
            <a:endParaRPr lang="en-US" sz="4400"/>
          </a:p>
        </p:txBody>
      </p:sp>
      <p:pic>
        <p:nvPicPr>
          <p:cNvPr id="8" name="Picture 7" descr="A screenshot of a phone&#10;&#10;Description automatically generated">
            <a:extLst>
              <a:ext uri="{FF2B5EF4-FFF2-40B4-BE49-F238E27FC236}">
                <a16:creationId xmlns:a16="http://schemas.microsoft.com/office/drawing/2014/main" id="{20102070-8782-5565-CB4E-327B91B6B2FC}"/>
              </a:ext>
            </a:extLst>
          </p:cNvPr>
          <p:cNvPicPr>
            <a:picLocks noChangeAspect="1"/>
          </p:cNvPicPr>
          <p:nvPr/>
        </p:nvPicPr>
        <p:blipFill>
          <a:blip r:embed="rId2"/>
          <a:stretch>
            <a:fillRect/>
          </a:stretch>
        </p:blipFill>
        <p:spPr>
          <a:xfrm>
            <a:off x="1593638" y="612144"/>
            <a:ext cx="1520189" cy="3217333"/>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2A698A9F-8604-CF21-ACE6-BA6A98257A72}"/>
              </a:ext>
            </a:extLst>
          </p:cNvPr>
          <p:cNvPicPr>
            <a:picLocks noChangeAspect="1"/>
          </p:cNvPicPr>
          <p:nvPr/>
        </p:nvPicPr>
        <p:blipFill>
          <a:blip r:embed="rId3"/>
          <a:stretch>
            <a:fillRect/>
          </a:stretch>
        </p:blipFill>
        <p:spPr>
          <a:xfrm>
            <a:off x="5334621" y="637831"/>
            <a:ext cx="1520189" cy="3217333"/>
          </a:xfrm>
          <a:prstGeom prst="rect">
            <a:avLst/>
          </a:prstGeom>
        </p:spPr>
      </p:pic>
      <p:pic>
        <p:nvPicPr>
          <p:cNvPr id="4" name="Picture 3" descr="A screenshot of a phone&#10;&#10;Description automatically generated">
            <a:extLst>
              <a:ext uri="{FF2B5EF4-FFF2-40B4-BE49-F238E27FC236}">
                <a16:creationId xmlns:a16="http://schemas.microsoft.com/office/drawing/2014/main" id="{A443D0FF-72CF-D457-4696-DA62D27F6357}"/>
              </a:ext>
            </a:extLst>
          </p:cNvPr>
          <p:cNvPicPr>
            <a:picLocks noChangeAspect="1"/>
          </p:cNvPicPr>
          <p:nvPr/>
        </p:nvPicPr>
        <p:blipFill>
          <a:blip r:embed="rId4"/>
          <a:stretch>
            <a:fillRect/>
          </a:stretch>
        </p:blipFill>
        <p:spPr>
          <a:xfrm>
            <a:off x="9076888" y="637830"/>
            <a:ext cx="1520189" cy="3217333"/>
          </a:xfrm>
          <a:prstGeom prst="rect">
            <a:avLst/>
          </a:prstGeom>
        </p:spPr>
      </p:pic>
    </p:spTree>
    <p:extLst>
      <p:ext uri="{BB962C8B-B14F-4D97-AF65-F5344CB8AC3E}">
        <p14:creationId xmlns:p14="http://schemas.microsoft.com/office/powerpoint/2010/main" val="19731258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810156-3C9A-0237-4E74-B7F629F1E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DA648-2DBF-4975-AB14-48D4CCD63C27}"/>
              </a:ext>
            </a:extLst>
          </p:cNvPr>
          <p:cNvSpPr>
            <a:spLocks noGrp="1"/>
          </p:cNvSpPr>
          <p:nvPr>
            <p:ph type="title"/>
          </p:nvPr>
        </p:nvSpPr>
        <p:spPr>
          <a:xfrm>
            <a:off x="765110" y="4758611"/>
            <a:ext cx="8508893" cy="1024415"/>
          </a:xfrm>
        </p:spPr>
        <p:txBody>
          <a:bodyPr vert="horz" lIns="91440" tIns="45720" rIns="91440" bIns="45720" rtlCol="0" anchor="b">
            <a:normAutofit/>
          </a:bodyPr>
          <a:lstStyle/>
          <a:p>
            <a:pPr algn="r"/>
            <a:r>
              <a:rPr lang="en-US" sz="5400" b="1"/>
              <a:t>النتائج</a:t>
            </a:r>
            <a:endParaRPr lang="en-US" sz="5400"/>
          </a:p>
        </p:txBody>
      </p:sp>
      <p:pic>
        <p:nvPicPr>
          <p:cNvPr id="28" name="Picture 27" descr="A screenshot of a phone&#10;&#10;Description automatically generated">
            <a:extLst>
              <a:ext uri="{FF2B5EF4-FFF2-40B4-BE49-F238E27FC236}">
                <a16:creationId xmlns:a16="http://schemas.microsoft.com/office/drawing/2014/main" id="{22B127E8-C251-C5C5-7F60-6EE8E2A4C197}"/>
              </a:ext>
            </a:extLst>
          </p:cNvPr>
          <p:cNvPicPr>
            <a:picLocks noChangeAspect="1"/>
          </p:cNvPicPr>
          <p:nvPr/>
        </p:nvPicPr>
        <p:blipFill>
          <a:blip r:embed="rId2"/>
          <a:stretch>
            <a:fillRect/>
          </a:stretch>
        </p:blipFill>
        <p:spPr>
          <a:xfrm>
            <a:off x="1125261" y="761905"/>
            <a:ext cx="1520189" cy="3217333"/>
          </a:xfrm>
          <a:prstGeom prst="rect">
            <a:avLst/>
          </a:prstGeom>
        </p:spPr>
      </p:pic>
      <p:pic>
        <p:nvPicPr>
          <p:cNvPr id="34" name="Picture 33" descr="A screenshot of a phone&#10;&#10;Description automatically generated">
            <a:extLst>
              <a:ext uri="{FF2B5EF4-FFF2-40B4-BE49-F238E27FC236}">
                <a16:creationId xmlns:a16="http://schemas.microsoft.com/office/drawing/2014/main" id="{1D66CFAC-AE72-3842-D742-C9B4FE52125C}"/>
              </a:ext>
            </a:extLst>
          </p:cNvPr>
          <p:cNvPicPr>
            <a:picLocks noChangeAspect="1"/>
          </p:cNvPicPr>
          <p:nvPr/>
        </p:nvPicPr>
        <p:blipFill>
          <a:blip r:embed="rId3"/>
          <a:stretch>
            <a:fillRect/>
          </a:stretch>
        </p:blipFill>
        <p:spPr>
          <a:xfrm>
            <a:off x="3930772" y="761905"/>
            <a:ext cx="1520189" cy="3217333"/>
          </a:xfrm>
          <a:prstGeom prst="rect">
            <a:avLst/>
          </a:prstGeom>
        </p:spPr>
      </p:pic>
      <p:pic>
        <p:nvPicPr>
          <p:cNvPr id="30" name="Picture 29" descr="A screenshot of a phone&#10;&#10;Description automatically generated">
            <a:extLst>
              <a:ext uri="{FF2B5EF4-FFF2-40B4-BE49-F238E27FC236}">
                <a16:creationId xmlns:a16="http://schemas.microsoft.com/office/drawing/2014/main" id="{243C2C0C-8C07-0A12-1433-B176C38E3517}"/>
              </a:ext>
            </a:extLst>
          </p:cNvPr>
          <p:cNvPicPr>
            <a:picLocks noChangeAspect="1"/>
          </p:cNvPicPr>
          <p:nvPr/>
        </p:nvPicPr>
        <p:blipFill>
          <a:blip r:embed="rId4"/>
          <a:stretch>
            <a:fillRect/>
          </a:stretch>
        </p:blipFill>
        <p:spPr>
          <a:xfrm>
            <a:off x="6736283" y="761905"/>
            <a:ext cx="1520189" cy="3217333"/>
          </a:xfrm>
          <a:prstGeom prst="rect">
            <a:avLst/>
          </a:prstGeom>
        </p:spPr>
      </p:pic>
      <p:pic>
        <p:nvPicPr>
          <p:cNvPr id="32" name="Picture 31" descr="A screenshot of a phone&#10;&#10;Description automatically generated">
            <a:extLst>
              <a:ext uri="{FF2B5EF4-FFF2-40B4-BE49-F238E27FC236}">
                <a16:creationId xmlns:a16="http://schemas.microsoft.com/office/drawing/2014/main" id="{FC2E5727-C774-959F-ED49-0F62C95C0388}"/>
              </a:ext>
            </a:extLst>
          </p:cNvPr>
          <p:cNvPicPr>
            <a:picLocks noChangeAspect="1"/>
          </p:cNvPicPr>
          <p:nvPr/>
        </p:nvPicPr>
        <p:blipFill>
          <a:blip r:embed="rId5"/>
          <a:stretch>
            <a:fillRect/>
          </a:stretch>
        </p:blipFill>
        <p:spPr>
          <a:xfrm>
            <a:off x="9541793" y="761905"/>
            <a:ext cx="1520189" cy="3217333"/>
          </a:xfrm>
          <a:prstGeom prst="rect">
            <a:avLst/>
          </a:prstGeom>
        </p:spPr>
      </p:pic>
    </p:spTree>
    <p:extLst>
      <p:ext uri="{BB962C8B-B14F-4D97-AF65-F5344CB8AC3E}">
        <p14:creationId xmlns:p14="http://schemas.microsoft.com/office/powerpoint/2010/main" val="31589424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FAC74-DB4A-E4E4-1741-C2A2186F8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4B400-DAFB-B699-86AA-F9AF85B577C3}"/>
              </a:ext>
            </a:extLst>
          </p:cNvPr>
          <p:cNvSpPr>
            <a:spLocks noGrp="1"/>
          </p:cNvSpPr>
          <p:nvPr>
            <p:ph type="title"/>
          </p:nvPr>
        </p:nvSpPr>
        <p:spPr/>
        <p:txBody>
          <a:bodyPr/>
          <a:lstStyle/>
          <a:p>
            <a:pPr algn="ctr" rtl="1"/>
            <a:r>
              <a:rPr lang="ar-YE" b="1" dirty="0"/>
              <a:t>الخاتمة</a:t>
            </a:r>
            <a:endParaRPr lang="en-US" dirty="0"/>
          </a:p>
        </p:txBody>
      </p:sp>
      <p:sp>
        <p:nvSpPr>
          <p:cNvPr id="5" name="TextBox 4">
            <a:extLst>
              <a:ext uri="{FF2B5EF4-FFF2-40B4-BE49-F238E27FC236}">
                <a16:creationId xmlns:a16="http://schemas.microsoft.com/office/drawing/2014/main" id="{8706B654-49E2-5778-ECC4-B272FD401AC0}"/>
              </a:ext>
            </a:extLst>
          </p:cNvPr>
          <p:cNvSpPr txBox="1"/>
          <p:nvPr/>
        </p:nvSpPr>
        <p:spPr>
          <a:xfrm>
            <a:off x="377983" y="2377965"/>
            <a:ext cx="9195369" cy="2528897"/>
          </a:xfrm>
          <a:prstGeom prst="rect">
            <a:avLst/>
          </a:prstGeom>
          <a:noFill/>
        </p:spPr>
        <p:txBody>
          <a:bodyPr wrap="square">
            <a:spAutoFit/>
          </a:bodyPr>
          <a:lstStyle/>
          <a:p>
            <a:pPr algn="r" rtl="1">
              <a:lnSpc>
                <a:spcPct val="150000"/>
              </a:lnSpc>
            </a:pPr>
            <a:r>
              <a:rPr lang="ar-SA" dirty="0"/>
              <a:t>أثبت مشروع نظام الري الذكي باستخدام </a:t>
            </a:r>
            <a:r>
              <a:rPr lang="en-US" dirty="0"/>
              <a:t>Arduino</a:t>
            </a:r>
            <a:r>
              <a:rPr lang="ar-YE" dirty="0"/>
              <a:t> </a:t>
            </a:r>
            <a:r>
              <a:rPr lang="en-US" dirty="0"/>
              <a:t> </a:t>
            </a:r>
            <a:r>
              <a:rPr lang="ar-SA" dirty="0"/>
              <a:t>فعاليته في تحسين إدارة الموارد المائية وأتمتة عملية الري بطريقة مستدامة وعملية. بفضل تكامل المكونات المختلفة مثل مستشعر رطوبة التربة، </a:t>
            </a:r>
            <a:r>
              <a:rPr lang="en-US" dirty="0"/>
              <a:t>DHT11، </a:t>
            </a:r>
            <a:r>
              <a:rPr lang="ar-SA" dirty="0" err="1"/>
              <a:t>الريلاي</a:t>
            </a:r>
            <a:r>
              <a:rPr lang="ar-SA" dirty="0"/>
              <a:t>، وحدة </a:t>
            </a:r>
            <a:r>
              <a:rPr lang="en-US" dirty="0"/>
              <a:t>ESP8266، </a:t>
            </a:r>
            <a:r>
              <a:rPr lang="ar-SA" dirty="0" err="1"/>
              <a:t>والبردبورد</a:t>
            </a:r>
            <a:r>
              <a:rPr lang="ar-SA" dirty="0"/>
              <a:t>، نجح النظام في توفير المياه وتقليل الجهد اليدوي مع ضمان أداء دقيق وموثوق. كما أضافت ميزة التحكم اللاسلكي سهولة في الاستخدام ومرونة في المراقبة عن بُعد، مما يجعله خيارًا مثاليًا للزراعة الحديثة. يمثل هذا النظام نموذجًا عمليًا للتطبيقات الذكية في الزراعة مع إمكانيات واسعة للتطوير والتوسع مستقبلاً.</a:t>
            </a:r>
          </a:p>
        </p:txBody>
      </p:sp>
    </p:spTree>
    <p:extLst>
      <p:ext uri="{BB962C8B-B14F-4D97-AF65-F5344CB8AC3E}">
        <p14:creationId xmlns:p14="http://schemas.microsoft.com/office/powerpoint/2010/main" val="42736622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251</TotalTime>
  <Words>2465</Words>
  <Application>Microsoft Office PowerPoint</Application>
  <PresentationFormat>Widescreen</PresentationFormat>
  <Paragraphs>224</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Arial</vt:lpstr>
      <vt:lpstr>Arial Unicode MS</vt:lpstr>
      <vt:lpstr>Century Gothic</vt:lpstr>
      <vt:lpstr>Wingdings 3</vt:lpstr>
      <vt:lpstr>Ion</vt:lpstr>
      <vt:lpstr>تقرير مشروع SMART PLANT</vt:lpstr>
      <vt:lpstr>فهرس</vt:lpstr>
      <vt:lpstr>اهداء </vt:lpstr>
      <vt:lpstr>المقدمة</vt:lpstr>
      <vt:lpstr>اهداف المشروع</vt:lpstr>
      <vt:lpstr>نبذة عن المشروع</vt:lpstr>
      <vt:lpstr>تصميم المشروع</vt:lpstr>
      <vt:lpstr>طريقة توصيل نظام الري باستخدام Arduino:</vt:lpstr>
      <vt:lpstr>GPIO  المستخدم</vt:lpstr>
      <vt:lpstr>المدخلات والمخرجات في المشروع</vt:lpstr>
      <vt:lpstr>المدخلات والمخرجات في المشروع</vt:lpstr>
      <vt:lpstr>نتائج مشروع نظام الري الذكي باستخدام Arduino:</vt:lpstr>
      <vt:lpstr>تحليل نتائج مشروع نظام الري الذكي باستخدام Arduino:</vt:lpstr>
      <vt:lpstr>مقدمة عن Firebase</vt:lpstr>
      <vt:lpstr>Firebase</vt:lpstr>
      <vt:lpstr>التقنيات المستخدمة في Firebase</vt:lpstr>
      <vt:lpstr>لماذا اخترنا Firebase</vt:lpstr>
      <vt:lpstr>مقدمة عن Arduino</vt:lpstr>
      <vt:lpstr>لماذا اخترنا Arduino</vt:lpstr>
      <vt:lpstr>تطبيق  Firebase في المشروع</vt:lpstr>
      <vt:lpstr>تطبيق  Arduino في المشروع</vt:lpstr>
      <vt:lpstr>القطع المستخدمة</vt:lpstr>
      <vt:lpstr>القطع المستخدمة</vt:lpstr>
      <vt:lpstr>الأدوات ESP8266</vt:lpstr>
      <vt:lpstr>DHT11</vt:lpstr>
      <vt:lpstr>Water Pumper</vt:lpstr>
      <vt:lpstr>Jumper Wires</vt:lpstr>
      <vt:lpstr>Jumper Wires</vt:lpstr>
      <vt:lpstr>Soil Moisture Sensor</vt:lpstr>
      <vt:lpstr>Relay</vt:lpstr>
      <vt:lpstr>التوصيل</vt:lpstr>
      <vt:lpstr>توصيل القطع</vt:lpstr>
      <vt:lpstr>مرحلة التطوير</vt:lpstr>
      <vt:lpstr>قاعدة البيانات</vt:lpstr>
      <vt:lpstr>مرحلة التطوير</vt:lpstr>
      <vt:lpstr>مرحلة التطوير</vt:lpstr>
      <vt:lpstr>مرحلة التطوير</vt:lpstr>
      <vt:lpstr>مرحلة التطوير</vt:lpstr>
      <vt:lpstr>مرحلة التطوير</vt:lpstr>
      <vt:lpstr>مرحلة التطوير</vt:lpstr>
      <vt:lpstr>مرحلة التطوير</vt:lpstr>
      <vt:lpstr>الميزات الأساسية للنظام</vt:lpstr>
      <vt:lpstr>نتائج القراءات الأوله</vt:lpstr>
      <vt:lpstr>التحكم في الري</vt:lpstr>
      <vt:lpstr>المكتبات المستخدمه</vt:lpstr>
      <vt:lpstr>توصيل الاردينو بي قاعدة البيانات</vt:lpstr>
      <vt:lpstr>الأخطاء التي واجهتنا</vt:lpstr>
      <vt:lpstr>خطا 1</vt:lpstr>
      <vt:lpstr>خطا 2</vt:lpstr>
      <vt:lpstr>النتائج</vt:lpstr>
      <vt:lpstr>النتائج</vt:lpstr>
      <vt:lpstr>النتائج</vt:lpstr>
      <vt:lpstr>الخاتمة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تقرير مشروع SMART PLANT</dc:title>
  <dc:creator>Microsoft Office User</dc:creator>
  <cp:lastModifiedBy>Zeyad Alhababi</cp:lastModifiedBy>
  <cp:revision>60</cp:revision>
  <dcterms:created xsi:type="dcterms:W3CDTF">2024-10-06T11:10:54Z</dcterms:created>
  <dcterms:modified xsi:type="dcterms:W3CDTF">2024-12-01T03:34:50Z</dcterms:modified>
</cp:coreProperties>
</file>