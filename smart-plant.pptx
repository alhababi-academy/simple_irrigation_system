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72"/>
    <p:restoredTop sz="96405"/>
  </p:normalViewPr>
  <p:slideViewPr>
    <p:cSldViewPr snapToGrid="0" snapToObjects="1">
      <p:cViewPr varScale="1">
        <p:scale>
          <a:sx n="156" d="100"/>
          <a:sy n="156" d="100"/>
        </p:scale>
        <p:origin x="216" y="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10/6/24</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2464532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10/6/24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716475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10/6/24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991733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14942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10/6/24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66062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10/6/24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9165935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10/6/24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910013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523709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4571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6542326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97897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499110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10/6/24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769200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10/6/24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360593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10/6/24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60715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10/6/24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606004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10/6/24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514983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10/6/24</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70334083"/>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41C5F-9037-F840-9FEC-EC4D5C6CFEAF}"/>
              </a:ext>
            </a:extLst>
          </p:cNvPr>
          <p:cNvSpPr>
            <a:spLocks noGrp="1"/>
          </p:cNvSpPr>
          <p:nvPr>
            <p:ph type="ctrTitle"/>
          </p:nvPr>
        </p:nvSpPr>
        <p:spPr>
          <a:xfrm>
            <a:off x="1700212" y="261937"/>
            <a:ext cx="8791575" cy="1338263"/>
          </a:xfrm>
        </p:spPr>
        <p:txBody>
          <a:bodyPr>
            <a:normAutofit fontScale="90000"/>
          </a:bodyPr>
          <a:lstStyle/>
          <a:p>
            <a:pPr algn="ctr"/>
            <a:r>
              <a:rPr lang="ar-SA" b="1" dirty="0"/>
              <a:t>تقرير مشروع</a:t>
            </a:r>
            <a:br>
              <a:rPr lang="ar-SA" b="1" dirty="0"/>
            </a:br>
            <a:r>
              <a:rPr lang="en-US" b="1" dirty="0"/>
              <a:t>SMART PLANT</a:t>
            </a:r>
          </a:p>
        </p:txBody>
      </p:sp>
      <p:sp>
        <p:nvSpPr>
          <p:cNvPr id="3" name="Subtitle 2">
            <a:extLst>
              <a:ext uri="{FF2B5EF4-FFF2-40B4-BE49-F238E27FC236}">
                <a16:creationId xmlns:a16="http://schemas.microsoft.com/office/drawing/2014/main" id="{B0E00EF8-870D-8642-9522-443028FFEAC1}"/>
              </a:ext>
            </a:extLst>
          </p:cNvPr>
          <p:cNvSpPr>
            <a:spLocks noGrp="1"/>
          </p:cNvSpPr>
          <p:nvPr>
            <p:ph type="subTitle" idx="1"/>
          </p:nvPr>
        </p:nvSpPr>
        <p:spPr>
          <a:xfrm>
            <a:off x="1700212" y="2010002"/>
            <a:ext cx="8791575" cy="1655762"/>
          </a:xfrm>
        </p:spPr>
        <p:txBody>
          <a:bodyPr/>
          <a:lstStyle/>
          <a:p>
            <a:pPr marL="0" indent="0" algn="r" defTabSz="914400" rtl="1" eaLnBrk="1" latinLnBrk="0" hangingPunct="1">
              <a:lnSpc>
                <a:spcPct val="120000"/>
              </a:lnSpc>
              <a:spcBef>
                <a:spcPts val="1000"/>
              </a:spcBef>
              <a:buSzPct val="125000"/>
              <a:buFont typeface="Arial" panose="020B0604020202020204" pitchFamily="34" charset="0"/>
              <a:buNone/>
            </a:pPr>
            <a:r>
              <a:rPr lang="ar-SA" dirty="0"/>
              <a:t>اعداد</a:t>
            </a:r>
            <a:r>
              <a:rPr lang="en-US" dirty="0"/>
              <a:t> </a:t>
            </a:r>
            <a:r>
              <a:rPr lang="ar-SA" dirty="0"/>
              <a:t>الطلاب:</a:t>
            </a:r>
          </a:p>
          <a:p>
            <a:pPr marL="0" indent="0" algn="r" defTabSz="914400" rtl="1" eaLnBrk="1" latinLnBrk="0" hangingPunct="1">
              <a:lnSpc>
                <a:spcPct val="120000"/>
              </a:lnSpc>
              <a:spcBef>
                <a:spcPts val="1000"/>
              </a:spcBef>
              <a:buSzPct val="125000"/>
              <a:buFont typeface="Arial" panose="020B0604020202020204" pitchFamily="34" charset="0"/>
              <a:buNone/>
            </a:pPr>
            <a:endParaRPr lang="en-US" dirty="0"/>
          </a:p>
        </p:txBody>
      </p:sp>
      <p:sp>
        <p:nvSpPr>
          <p:cNvPr id="4" name="Subtitle 2">
            <a:extLst>
              <a:ext uri="{FF2B5EF4-FFF2-40B4-BE49-F238E27FC236}">
                <a16:creationId xmlns:a16="http://schemas.microsoft.com/office/drawing/2014/main" id="{A70781EB-AD5F-924D-B9ED-C7510137D4BB}"/>
              </a:ext>
            </a:extLst>
          </p:cNvPr>
          <p:cNvSpPr txBox="1">
            <a:spLocks/>
          </p:cNvSpPr>
          <p:nvPr/>
        </p:nvSpPr>
        <p:spPr>
          <a:xfrm>
            <a:off x="1700211" y="4456567"/>
            <a:ext cx="8791575" cy="1655762"/>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pPr algn="r" rtl="1"/>
            <a:r>
              <a:rPr lang="ar-SA" dirty="0"/>
              <a:t>اشراف الدكتور:</a:t>
            </a:r>
          </a:p>
          <a:p>
            <a:pPr algn="r" rtl="1"/>
            <a:r>
              <a:rPr lang="ar-SA" dirty="0"/>
              <a:t>خالد عبدالله </a:t>
            </a:r>
            <a:r>
              <a:rPr lang="ar-SA" dirty="0" err="1"/>
              <a:t>البليهي</a:t>
            </a:r>
            <a:endParaRPr lang="en-US" dirty="0"/>
          </a:p>
        </p:txBody>
      </p:sp>
      <p:sp>
        <p:nvSpPr>
          <p:cNvPr id="5" name="Title 1">
            <a:extLst>
              <a:ext uri="{FF2B5EF4-FFF2-40B4-BE49-F238E27FC236}">
                <a16:creationId xmlns:a16="http://schemas.microsoft.com/office/drawing/2014/main" id="{FFBEF371-3499-9944-89F3-F9568656F14A}"/>
              </a:ext>
            </a:extLst>
          </p:cNvPr>
          <p:cNvSpPr txBox="1">
            <a:spLocks/>
          </p:cNvSpPr>
          <p:nvPr/>
        </p:nvSpPr>
        <p:spPr>
          <a:xfrm>
            <a:off x="1700211" y="5358266"/>
            <a:ext cx="8791575" cy="1338263"/>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ar-SA" sz="2400" b="1" dirty="0"/>
              <a:t>هندسة أنظمة الشبكات التطبيقية</a:t>
            </a:r>
            <a:endParaRPr lang="en-US" sz="2400" b="1" dirty="0"/>
          </a:p>
        </p:txBody>
      </p:sp>
    </p:spTree>
    <p:extLst>
      <p:ext uri="{BB962C8B-B14F-4D97-AF65-F5344CB8AC3E}">
        <p14:creationId xmlns:p14="http://schemas.microsoft.com/office/powerpoint/2010/main" val="170896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F0EDB-A185-AD4C-90C2-165338413BB9}"/>
              </a:ext>
            </a:extLst>
          </p:cNvPr>
          <p:cNvSpPr>
            <a:spLocks noGrp="1"/>
          </p:cNvSpPr>
          <p:nvPr>
            <p:ph type="title"/>
          </p:nvPr>
        </p:nvSpPr>
        <p:spPr>
          <a:xfrm>
            <a:off x="1141412" y="0"/>
            <a:ext cx="9905998" cy="849086"/>
          </a:xfrm>
        </p:spPr>
        <p:txBody>
          <a:bodyPr>
            <a:normAutofit/>
          </a:bodyPr>
          <a:lstStyle/>
          <a:p>
            <a:pPr algn="ctr"/>
            <a:r>
              <a:rPr lang="ar-SA" sz="4400" dirty="0"/>
              <a:t>فهرس</a:t>
            </a:r>
            <a:endParaRPr lang="en-US" sz="4400" dirty="0"/>
          </a:p>
        </p:txBody>
      </p:sp>
      <p:sp>
        <p:nvSpPr>
          <p:cNvPr id="3" name="Content Placeholder 2">
            <a:extLst>
              <a:ext uri="{FF2B5EF4-FFF2-40B4-BE49-F238E27FC236}">
                <a16:creationId xmlns:a16="http://schemas.microsoft.com/office/drawing/2014/main" id="{C9B54F68-152C-D349-90B6-20325BCF460A}"/>
              </a:ext>
            </a:extLst>
          </p:cNvPr>
          <p:cNvSpPr>
            <a:spLocks noGrp="1"/>
          </p:cNvSpPr>
          <p:nvPr>
            <p:ph idx="1"/>
          </p:nvPr>
        </p:nvSpPr>
        <p:spPr>
          <a:xfrm>
            <a:off x="1143000" y="963386"/>
            <a:ext cx="9905999" cy="5470071"/>
          </a:xfrm>
        </p:spPr>
        <p:txBody>
          <a:bodyPr>
            <a:normAutofit fontScale="85000" lnSpcReduction="20000"/>
          </a:bodyPr>
          <a:lstStyle/>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الفهرس.</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المقدمة.</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اهداف المشروع.</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تصميم المشروع.</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a:t>
            </a:r>
            <a:r>
              <a:rPr lang="en-US" dirty="0"/>
              <a:t>GPIO </a:t>
            </a:r>
            <a:r>
              <a:rPr lang="ar-SA" dirty="0"/>
              <a:t> المستخدمة.</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الأدوات المستخدمة.</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تعريف الأدوات.</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صورة العملي.</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طريقة التوصيل.</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نتائج المشروع.</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الخلاصة.</a:t>
            </a:r>
          </a:p>
          <a:p>
            <a:pPr marL="228600" indent="-228600" algn="r" defTabSz="914400" rtl="1" eaLnBrk="1" latinLnBrk="0" hangingPunct="1">
              <a:lnSpc>
                <a:spcPct val="120000"/>
              </a:lnSpc>
              <a:spcBef>
                <a:spcPts val="1000"/>
              </a:spcBef>
              <a:buSzPct val="125000"/>
              <a:buFont typeface="Arial" panose="020B0604020202020204" pitchFamily="34" charset="0"/>
              <a:buChar char="•"/>
            </a:pPr>
            <a:r>
              <a:rPr lang="ar-SA" dirty="0"/>
              <a:t>الخاتمة.</a:t>
            </a:r>
          </a:p>
        </p:txBody>
      </p:sp>
    </p:spTree>
    <p:extLst>
      <p:ext uri="{BB962C8B-B14F-4D97-AF65-F5344CB8AC3E}">
        <p14:creationId xmlns:p14="http://schemas.microsoft.com/office/powerpoint/2010/main" val="1271304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8E51-E683-FB49-BCAC-E4DF57BADFD6}"/>
              </a:ext>
            </a:extLst>
          </p:cNvPr>
          <p:cNvSpPr>
            <a:spLocks noGrp="1"/>
          </p:cNvSpPr>
          <p:nvPr>
            <p:ph type="title"/>
          </p:nvPr>
        </p:nvSpPr>
        <p:spPr/>
        <p:txBody>
          <a:bodyPr/>
          <a:lstStyle/>
          <a:p>
            <a:pPr algn="ctr" defTabSz="914400" rtl="1" eaLnBrk="1" latinLnBrk="0" hangingPunct="1">
              <a:lnSpc>
                <a:spcPct val="90000"/>
              </a:lnSpc>
              <a:spcBef>
                <a:spcPct val="0"/>
              </a:spcBef>
              <a:buNone/>
            </a:pPr>
            <a:r>
              <a:rPr lang="ar-SA" sz="4800" dirty="0"/>
              <a:t>اهداء</a:t>
            </a:r>
            <a:r>
              <a:rPr lang="ar-SA" dirty="0"/>
              <a:t> </a:t>
            </a:r>
            <a:endParaRPr lang="en-US" dirty="0"/>
          </a:p>
        </p:txBody>
      </p:sp>
      <p:sp>
        <p:nvSpPr>
          <p:cNvPr id="3" name="Content Placeholder 2">
            <a:extLst>
              <a:ext uri="{FF2B5EF4-FFF2-40B4-BE49-F238E27FC236}">
                <a16:creationId xmlns:a16="http://schemas.microsoft.com/office/drawing/2014/main" id="{2FDCE8F4-9599-F84F-8154-DF477ABB35F1}"/>
              </a:ext>
            </a:extLst>
          </p:cNvPr>
          <p:cNvSpPr>
            <a:spLocks noGrp="1"/>
          </p:cNvSpPr>
          <p:nvPr>
            <p:ph idx="1"/>
          </p:nvPr>
        </p:nvSpPr>
        <p:spPr/>
        <p:txBody>
          <a:bodyPr/>
          <a:lstStyle/>
          <a:p>
            <a:pPr marL="0" indent="0" algn="r">
              <a:buNone/>
            </a:pPr>
            <a:r>
              <a:rPr lang="ar-SA" dirty="0"/>
              <a:t>أود أن أهدي هذا البحث لوالديّ العزيزين اللذين قدما لي كل الدعم والتشجيع طوال مسيرتي الدراسية. لقد كانوا دائمًا مصدر إلهامي وتحفيزي للاستمرار في السعي نحو تحقيق أهدافي. كما أود أن أعبر عن امتناني العميق للدكتور [اسم الدكتور] على توجيهاته القيمة ودعمه المستمر لي خلال إعداد هذا البحث. لقد ساعدني برؤيته الواسعة ومعرفته العميقة في هذا المجال. هذا الإنجاز ما هو إلا نتيجة لجهودهم جميعًا، وأتمنى أن أكون دائمًا عند حسن ظنهم.</a:t>
            </a:r>
          </a:p>
          <a:p>
            <a:endParaRPr lang="ar-SA" dirty="0"/>
          </a:p>
          <a:p>
            <a:endParaRPr lang="ar-SA" dirty="0"/>
          </a:p>
          <a:p>
            <a:endParaRPr lang="ar-SA" dirty="0"/>
          </a:p>
          <a:p>
            <a:endParaRPr lang="ar-SA" dirty="0"/>
          </a:p>
          <a:p>
            <a:endParaRPr lang="ar-SA" dirty="0"/>
          </a:p>
          <a:p>
            <a:endParaRPr lang="ar-SA" dirty="0"/>
          </a:p>
          <a:p>
            <a:pPr marL="228600" indent="-228600" algn="l" defTabSz="914400" rtl="0" eaLnBrk="1" latinLnBrk="0" hangingPunct="1">
              <a:lnSpc>
                <a:spcPct val="120000"/>
              </a:lnSpc>
              <a:spcBef>
                <a:spcPts val="1000"/>
              </a:spcBef>
              <a:buSzPct val="125000"/>
              <a:buFont typeface="Arial" panose="020B0604020202020204" pitchFamily="34" charset="0"/>
              <a:buChar char="•"/>
            </a:pPr>
            <a:endParaRPr lang="en-US" dirty="0"/>
          </a:p>
        </p:txBody>
      </p:sp>
    </p:spTree>
    <p:extLst>
      <p:ext uri="{BB962C8B-B14F-4D97-AF65-F5344CB8AC3E}">
        <p14:creationId xmlns:p14="http://schemas.microsoft.com/office/powerpoint/2010/main" val="6362964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8E51-E683-FB49-BCAC-E4DF57BADFD6}"/>
              </a:ext>
            </a:extLst>
          </p:cNvPr>
          <p:cNvSpPr>
            <a:spLocks noGrp="1"/>
          </p:cNvSpPr>
          <p:nvPr>
            <p:ph type="title"/>
          </p:nvPr>
        </p:nvSpPr>
        <p:spPr/>
        <p:txBody>
          <a:bodyPr/>
          <a:lstStyle/>
          <a:p>
            <a:pPr algn="ctr" defTabSz="914400" rtl="0" eaLnBrk="1" latinLnBrk="0" hangingPunct="1">
              <a:lnSpc>
                <a:spcPct val="90000"/>
              </a:lnSpc>
              <a:spcBef>
                <a:spcPct val="0"/>
              </a:spcBef>
              <a:buNone/>
            </a:pPr>
            <a:r>
              <a:rPr lang="ar-SA" sz="4800" dirty="0"/>
              <a:t>المقدمة</a:t>
            </a:r>
            <a:endParaRPr lang="en-US" dirty="0"/>
          </a:p>
        </p:txBody>
      </p:sp>
      <p:sp>
        <p:nvSpPr>
          <p:cNvPr id="3" name="Content Placeholder 2">
            <a:extLst>
              <a:ext uri="{FF2B5EF4-FFF2-40B4-BE49-F238E27FC236}">
                <a16:creationId xmlns:a16="http://schemas.microsoft.com/office/drawing/2014/main" id="{2FDCE8F4-9599-F84F-8154-DF477ABB35F1}"/>
              </a:ext>
            </a:extLst>
          </p:cNvPr>
          <p:cNvSpPr>
            <a:spLocks noGrp="1"/>
          </p:cNvSpPr>
          <p:nvPr>
            <p:ph idx="1"/>
          </p:nvPr>
        </p:nvSpPr>
        <p:spPr/>
        <p:txBody>
          <a:bodyPr/>
          <a:lstStyle/>
          <a:p>
            <a:pPr algn="r" rtl="1"/>
            <a:r>
              <a:rPr lang="ar-SA" dirty="0"/>
              <a:t>تعد النباتات من أهم الكائنات التي تعتمد عليها الحياة البشرية، سواء من ناحية الغذاء أو البيئة. مع زيادة الاعتماد على التكنولوجيا، أصبح من الممكن تسخير التقنيات الحديثة في تحسين طرق العناية بالنباتات، خاصة في البيئات المنزلية أو الصناعية. يهدف هذا المشروع إلى تطوير نظام "النبتة الذكية" الذي يمكن من مراقبة الظروف البيئية للنباتات والتحكم فيها تلقائيًا باستخدام مستشعرات وأدوات إلكترونية مثل </a:t>
            </a:r>
            <a:r>
              <a:rPr lang="en-PH" dirty="0"/>
              <a:t>Arduino </a:t>
            </a:r>
            <a:r>
              <a:rPr lang="ar-SA" dirty="0"/>
              <a:t>و</a:t>
            </a:r>
            <a:r>
              <a:rPr lang="en-PH" dirty="0"/>
              <a:t>ESP8266. </a:t>
            </a:r>
            <a:r>
              <a:rPr lang="ar-SA" dirty="0"/>
              <a:t>يتيح هذا النظام للمستخدمين متابعة حالة النباتات عن بُعد عبر تطبيق متصل بالنظام، مما يجعل من السهل الاعتناء بها دون الحاجة إلى التدخل اليدوي المستمر.</a:t>
            </a:r>
          </a:p>
          <a:p>
            <a:endParaRPr lang="ar-SA" dirty="0"/>
          </a:p>
          <a:p>
            <a:endParaRPr lang="ar-SA" dirty="0"/>
          </a:p>
          <a:p>
            <a:endParaRPr lang="ar-SA" dirty="0"/>
          </a:p>
          <a:p>
            <a:endParaRPr lang="ar-SA" dirty="0"/>
          </a:p>
          <a:p>
            <a:endParaRPr lang="ar-SA" dirty="0"/>
          </a:p>
          <a:p>
            <a:pPr marL="228600" indent="-228600" algn="l" defTabSz="914400" rtl="0" eaLnBrk="1" latinLnBrk="0" hangingPunct="1">
              <a:lnSpc>
                <a:spcPct val="120000"/>
              </a:lnSpc>
              <a:spcBef>
                <a:spcPts val="1000"/>
              </a:spcBef>
              <a:buSzPct val="125000"/>
              <a:buFont typeface="Arial" panose="020B0604020202020204" pitchFamily="34" charset="0"/>
              <a:buChar char="•"/>
            </a:pPr>
            <a:endParaRPr lang="en-US" dirty="0"/>
          </a:p>
        </p:txBody>
      </p:sp>
    </p:spTree>
    <p:extLst>
      <p:ext uri="{BB962C8B-B14F-4D97-AF65-F5344CB8AC3E}">
        <p14:creationId xmlns:p14="http://schemas.microsoft.com/office/powerpoint/2010/main" val="40812192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8E51-E683-FB49-BCAC-E4DF57BADFD6}"/>
              </a:ext>
            </a:extLst>
          </p:cNvPr>
          <p:cNvSpPr>
            <a:spLocks noGrp="1"/>
          </p:cNvSpPr>
          <p:nvPr>
            <p:ph type="title"/>
          </p:nvPr>
        </p:nvSpPr>
        <p:spPr/>
        <p:txBody>
          <a:bodyPr/>
          <a:lstStyle/>
          <a:p>
            <a:pPr algn="ctr" defTabSz="914400" rtl="1" eaLnBrk="1" latinLnBrk="0" hangingPunct="1">
              <a:lnSpc>
                <a:spcPct val="90000"/>
              </a:lnSpc>
              <a:spcBef>
                <a:spcPct val="0"/>
              </a:spcBef>
              <a:buNone/>
            </a:pPr>
            <a:r>
              <a:rPr lang="ar-SA" sz="4800" dirty="0"/>
              <a:t>تصميم المشروع</a:t>
            </a:r>
            <a:endParaRPr lang="en-US" dirty="0"/>
          </a:p>
        </p:txBody>
      </p:sp>
      <p:sp>
        <p:nvSpPr>
          <p:cNvPr id="3" name="Content Placeholder 2">
            <a:extLst>
              <a:ext uri="{FF2B5EF4-FFF2-40B4-BE49-F238E27FC236}">
                <a16:creationId xmlns:a16="http://schemas.microsoft.com/office/drawing/2014/main" id="{2FDCE8F4-9599-F84F-8154-DF477ABB35F1}"/>
              </a:ext>
            </a:extLst>
          </p:cNvPr>
          <p:cNvSpPr>
            <a:spLocks noGrp="1"/>
          </p:cNvSpPr>
          <p:nvPr>
            <p:ph idx="1"/>
          </p:nvPr>
        </p:nvSpPr>
        <p:spPr/>
        <p:txBody>
          <a:bodyPr/>
          <a:lstStyle/>
          <a:p>
            <a:pPr algn="r" rtl="1"/>
            <a:r>
              <a:rPr lang="ar-SA" dirty="0"/>
              <a:t>يعتمد تصميم مشروع "النبتة الذكية" على استخدام عدة مستشعرات وأجهزة للتحكم في بيئة النبات. تتضمن هذه المستشعرات مستشعر الرطوبة الذي يقيس مستوى الرطوبة في التربة، ومستشعر درجة الحرارة الذي يراقب الظروف الحرارية للنباتات. يتم توصيل هذه المستشعرات بوحدة التحكم (</a:t>
            </a:r>
            <a:r>
              <a:rPr lang="en-PH" dirty="0"/>
              <a:t>Arduino) </a:t>
            </a:r>
            <a:r>
              <a:rPr lang="ar-SA" dirty="0"/>
              <a:t>التي تقوم بمعالجة البيانات واتخاذ القرارات المناسبة مثل تشغيل مضخة المياه إذا كانت التربة جافة. يتم إرسال هذه البيانات أيضًا إلى تطبيق الهاتف المحمول عبر وحدة </a:t>
            </a:r>
            <a:r>
              <a:rPr lang="en-PH" dirty="0"/>
              <a:t>ESP8266، </a:t>
            </a:r>
            <a:r>
              <a:rPr lang="ar-SA" dirty="0"/>
              <a:t>مما يسمح للمستخدم بمراقبة حالة النبات من أي مكان.</a:t>
            </a:r>
          </a:p>
          <a:p>
            <a:endParaRPr lang="ar-SA" dirty="0"/>
          </a:p>
          <a:p>
            <a:endParaRPr lang="ar-SA" dirty="0"/>
          </a:p>
          <a:p>
            <a:endParaRPr lang="ar-SA" dirty="0"/>
          </a:p>
          <a:p>
            <a:endParaRPr lang="ar-SA" dirty="0"/>
          </a:p>
          <a:p>
            <a:pPr marL="228600" indent="-228600" algn="l" defTabSz="914400" rtl="0" eaLnBrk="1" latinLnBrk="0" hangingPunct="1">
              <a:lnSpc>
                <a:spcPct val="120000"/>
              </a:lnSpc>
              <a:spcBef>
                <a:spcPts val="1000"/>
              </a:spcBef>
              <a:buSzPct val="125000"/>
              <a:buFont typeface="Arial" panose="020B0604020202020204" pitchFamily="34" charset="0"/>
              <a:buChar char="•"/>
            </a:pPr>
            <a:endParaRPr lang="en-US" dirty="0"/>
          </a:p>
        </p:txBody>
      </p:sp>
    </p:spTree>
    <p:extLst>
      <p:ext uri="{BB962C8B-B14F-4D97-AF65-F5344CB8AC3E}">
        <p14:creationId xmlns:p14="http://schemas.microsoft.com/office/powerpoint/2010/main" val="3397821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8E51-E683-FB49-BCAC-E4DF57BADFD6}"/>
              </a:ext>
            </a:extLst>
          </p:cNvPr>
          <p:cNvSpPr>
            <a:spLocks noGrp="1"/>
          </p:cNvSpPr>
          <p:nvPr>
            <p:ph type="title"/>
          </p:nvPr>
        </p:nvSpPr>
        <p:spPr/>
        <p:txBody>
          <a:bodyPr/>
          <a:lstStyle/>
          <a:p>
            <a:pPr algn="ctr" rtl="1"/>
            <a:r>
              <a:rPr lang="en-PH" sz="4800" dirty="0"/>
              <a:t>GPIO</a:t>
            </a:r>
            <a:r>
              <a:rPr lang="ar-SA" sz="4800" dirty="0"/>
              <a:t> </a:t>
            </a:r>
            <a:r>
              <a:rPr lang="en-PH" sz="4800" dirty="0"/>
              <a:t> </a:t>
            </a:r>
            <a:r>
              <a:rPr lang="ar-SA" sz="4800" dirty="0"/>
              <a:t>المستخدم</a:t>
            </a:r>
          </a:p>
        </p:txBody>
      </p:sp>
      <p:sp>
        <p:nvSpPr>
          <p:cNvPr id="3" name="Content Placeholder 2">
            <a:extLst>
              <a:ext uri="{FF2B5EF4-FFF2-40B4-BE49-F238E27FC236}">
                <a16:creationId xmlns:a16="http://schemas.microsoft.com/office/drawing/2014/main" id="{2FDCE8F4-9599-F84F-8154-DF477ABB35F1}"/>
              </a:ext>
            </a:extLst>
          </p:cNvPr>
          <p:cNvSpPr>
            <a:spLocks noGrp="1"/>
          </p:cNvSpPr>
          <p:nvPr>
            <p:ph idx="1"/>
          </p:nvPr>
        </p:nvSpPr>
        <p:spPr/>
        <p:txBody>
          <a:bodyPr/>
          <a:lstStyle/>
          <a:p>
            <a:pPr algn="r" rtl="1"/>
            <a:r>
              <a:rPr lang="ar-SA" dirty="0"/>
              <a:t>تستخدم وحدة التحكم </a:t>
            </a:r>
            <a:r>
              <a:rPr lang="en-PH" dirty="0"/>
              <a:t>GPIO (General Purpose Input/Output) </a:t>
            </a:r>
            <a:r>
              <a:rPr lang="ar-SA" dirty="0"/>
              <a:t>لتوصيل المستشعرات والأدوات المختلفة. يتضمن ذلك توصيل مستشعر الرطوبة (</a:t>
            </a:r>
            <a:r>
              <a:rPr lang="en-PH" dirty="0"/>
              <a:t>Soil Moisture Sensor)، </a:t>
            </a:r>
            <a:r>
              <a:rPr lang="ar-SA" dirty="0"/>
              <a:t>ومستشعر درجة الحرارة (</a:t>
            </a:r>
            <a:r>
              <a:rPr lang="en-PH" dirty="0"/>
              <a:t>DHT11)، </a:t>
            </a:r>
            <a:r>
              <a:rPr lang="ar-SA" dirty="0"/>
              <a:t>بالإضافة إلى مضخة المياه، والتي يتم تشغيلها عند الحاجة لري النبات.</a:t>
            </a:r>
          </a:p>
          <a:p>
            <a:endParaRPr lang="ar-SA" dirty="0"/>
          </a:p>
          <a:p>
            <a:endParaRPr lang="ar-SA" dirty="0"/>
          </a:p>
          <a:p>
            <a:endParaRPr lang="ar-SA" dirty="0"/>
          </a:p>
          <a:p>
            <a:pPr marL="228600" indent="-228600" algn="l" defTabSz="914400" rtl="0" eaLnBrk="1" latinLnBrk="0" hangingPunct="1">
              <a:lnSpc>
                <a:spcPct val="120000"/>
              </a:lnSpc>
              <a:spcBef>
                <a:spcPts val="1000"/>
              </a:spcBef>
              <a:buSzPct val="125000"/>
              <a:buFont typeface="Arial" panose="020B0604020202020204" pitchFamily="34" charset="0"/>
              <a:buChar char="•"/>
            </a:pPr>
            <a:endParaRPr lang="en-US" dirty="0"/>
          </a:p>
        </p:txBody>
      </p:sp>
    </p:spTree>
    <p:extLst>
      <p:ext uri="{BB962C8B-B14F-4D97-AF65-F5344CB8AC3E}">
        <p14:creationId xmlns:p14="http://schemas.microsoft.com/office/powerpoint/2010/main" val="3439518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030C6-387F-B54D-B5B1-E482A35C2D48}"/>
              </a:ext>
            </a:extLst>
          </p:cNvPr>
          <p:cNvSpPr>
            <a:spLocks noGrp="1"/>
          </p:cNvSpPr>
          <p:nvPr>
            <p:ph type="title"/>
          </p:nvPr>
        </p:nvSpPr>
        <p:spPr/>
        <p:txBody>
          <a:bodyPr/>
          <a:lstStyle/>
          <a:p>
            <a:pPr algn="ctr" rtl="1"/>
            <a:r>
              <a:rPr lang="ar-SA" b="1" dirty="0"/>
              <a:t>الأدوات المستخدمة</a:t>
            </a:r>
            <a:endParaRPr lang="en-US" dirty="0"/>
          </a:p>
        </p:txBody>
      </p:sp>
      <p:sp>
        <p:nvSpPr>
          <p:cNvPr id="3" name="Content Placeholder 2">
            <a:extLst>
              <a:ext uri="{FF2B5EF4-FFF2-40B4-BE49-F238E27FC236}">
                <a16:creationId xmlns:a16="http://schemas.microsoft.com/office/drawing/2014/main" id="{B326486D-F67F-7A4E-8BDB-2C79194BA618}"/>
              </a:ext>
            </a:extLst>
          </p:cNvPr>
          <p:cNvSpPr>
            <a:spLocks noGrp="1"/>
          </p:cNvSpPr>
          <p:nvPr>
            <p:ph idx="1"/>
          </p:nvPr>
        </p:nvSpPr>
        <p:spPr/>
        <p:txBody>
          <a:bodyPr/>
          <a:lstStyle/>
          <a:p>
            <a:pPr algn="r" rtl="1"/>
            <a:r>
              <a:rPr lang="en-PH" b="1" dirty="0"/>
              <a:t>Arduino Uno</a:t>
            </a:r>
            <a:r>
              <a:rPr lang="ar-SA" dirty="0"/>
              <a:t> </a:t>
            </a:r>
            <a:r>
              <a:rPr lang="en-PH" dirty="0"/>
              <a:t> </a:t>
            </a:r>
            <a:r>
              <a:rPr lang="ar-SA" dirty="0"/>
              <a:t>وحدة التحكم الأساسية التي تقوم بجمع البيانات من المستشعرات وتشغيل الأدوات.</a:t>
            </a:r>
          </a:p>
          <a:p>
            <a:pPr algn="r" rtl="1"/>
            <a:r>
              <a:rPr lang="en-PH" b="1" dirty="0"/>
              <a:t>ESP8266</a:t>
            </a:r>
            <a:r>
              <a:rPr lang="ar-SA" b="1" dirty="0"/>
              <a:t> </a:t>
            </a:r>
            <a:r>
              <a:rPr lang="en-PH" dirty="0"/>
              <a:t> </a:t>
            </a:r>
            <a:r>
              <a:rPr lang="ar-SA" dirty="0"/>
              <a:t>وحدة اتصال لاسلكي تتيح نقل البيانات بين </a:t>
            </a:r>
            <a:r>
              <a:rPr lang="en-PH" dirty="0"/>
              <a:t>Arduino </a:t>
            </a:r>
            <a:r>
              <a:rPr lang="ar-SA" dirty="0"/>
              <a:t>وتطبيق الهاتف المحمول.</a:t>
            </a:r>
          </a:p>
          <a:p>
            <a:pPr algn="r" rtl="1"/>
            <a:r>
              <a:rPr lang="ar-SA" b="1" dirty="0"/>
              <a:t>مستشعر الرطوبة  </a:t>
            </a:r>
            <a:r>
              <a:rPr lang="en-PH" b="1" dirty="0"/>
              <a:t>Soil Moisture Sensor</a:t>
            </a:r>
            <a:r>
              <a:rPr lang="ar-SA" b="1" dirty="0"/>
              <a:t> </a:t>
            </a:r>
            <a:r>
              <a:rPr lang="ar-SA" dirty="0"/>
              <a:t>لقياس رطوبة التربة.</a:t>
            </a:r>
          </a:p>
          <a:p>
            <a:pPr algn="r" rtl="1"/>
            <a:r>
              <a:rPr lang="ar-SA" b="1" dirty="0"/>
              <a:t>مستشعر درجة الحرارة والرطوبة </a:t>
            </a:r>
            <a:r>
              <a:rPr lang="en-PH" b="1" dirty="0"/>
              <a:t>DHT11</a:t>
            </a:r>
            <a:r>
              <a:rPr lang="ar-SA" b="1" dirty="0"/>
              <a:t> </a:t>
            </a:r>
            <a:r>
              <a:rPr lang="ar-SA" dirty="0"/>
              <a:t>لمراقبة درجة الحرارة والرطوبة المحيطة بالنبات.</a:t>
            </a:r>
          </a:p>
          <a:p>
            <a:pPr algn="r" rtl="1"/>
            <a:r>
              <a:rPr lang="ar-SA" b="1" dirty="0"/>
              <a:t>مضخة المياه</a:t>
            </a:r>
            <a:r>
              <a:rPr lang="ar-SA" dirty="0"/>
              <a:t>: تقوم بضخ المياه إلى النبات تلقائيًا عند الحاجة.</a:t>
            </a:r>
          </a:p>
          <a:p>
            <a:pPr marL="228600" indent="-228600" algn="r" defTabSz="914400" rtl="1" eaLnBrk="1" latinLnBrk="0" hangingPunct="1">
              <a:lnSpc>
                <a:spcPct val="120000"/>
              </a:lnSpc>
              <a:spcBef>
                <a:spcPts val="1000"/>
              </a:spcBef>
              <a:buSzPct val="125000"/>
              <a:buFont typeface="Arial" panose="020B0604020202020204" pitchFamily="34" charset="0"/>
              <a:buChar char="•"/>
            </a:pPr>
            <a:endParaRPr lang="en-US" dirty="0"/>
          </a:p>
        </p:txBody>
      </p:sp>
    </p:spTree>
    <p:extLst>
      <p:ext uri="{BB962C8B-B14F-4D97-AF65-F5344CB8AC3E}">
        <p14:creationId xmlns:p14="http://schemas.microsoft.com/office/powerpoint/2010/main" val="2767469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030C6-387F-B54D-B5B1-E482A35C2D48}"/>
              </a:ext>
            </a:extLst>
          </p:cNvPr>
          <p:cNvSpPr>
            <a:spLocks noGrp="1"/>
          </p:cNvSpPr>
          <p:nvPr>
            <p:ph type="title"/>
          </p:nvPr>
        </p:nvSpPr>
        <p:spPr/>
        <p:txBody>
          <a:bodyPr/>
          <a:lstStyle/>
          <a:p>
            <a:pPr algn="ctr" rtl="1"/>
            <a:r>
              <a:rPr lang="ar-SA" b="1" dirty="0"/>
              <a:t>الأدوات </a:t>
            </a:r>
            <a:r>
              <a:rPr lang="en-US" b="1" dirty="0"/>
              <a:t>ESP8266</a:t>
            </a:r>
            <a:endParaRPr lang="en-US" dirty="0"/>
          </a:p>
        </p:txBody>
      </p:sp>
      <p:pic>
        <p:nvPicPr>
          <p:cNvPr id="9" name="Picture 8">
            <a:extLst>
              <a:ext uri="{FF2B5EF4-FFF2-40B4-BE49-F238E27FC236}">
                <a16:creationId xmlns:a16="http://schemas.microsoft.com/office/drawing/2014/main" id="{59DD8727-41A7-F04F-95D5-358EE35CC3B5}"/>
              </a:ext>
            </a:extLst>
          </p:cNvPr>
          <p:cNvPicPr>
            <a:picLocks noChangeAspect="1"/>
          </p:cNvPicPr>
          <p:nvPr/>
        </p:nvPicPr>
        <p:blipFill>
          <a:blip r:embed="rId2"/>
          <a:stretch>
            <a:fillRect/>
          </a:stretch>
        </p:blipFill>
        <p:spPr>
          <a:xfrm>
            <a:off x="3708302" y="1755321"/>
            <a:ext cx="4772220" cy="2672443"/>
          </a:xfrm>
          <a:prstGeom prst="rect">
            <a:avLst/>
          </a:prstGeom>
        </p:spPr>
      </p:pic>
    </p:spTree>
    <p:extLst>
      <p:ext uri="{BB962C8B-B14F-4D97-AF65-F5344CB8AC3E}">
        <p14:creationId xmlns:p14="http://schemas.microsoft.com/office/powerpoint/2010/main" val="18648500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030C6-387F-B54D-B5B1-E482A35C2D48}"/>
              </a:ext>
            </a:extLst>
          </p:cNvPr>
          <p:cNvSpPr>
            <a:spLocks noGrp="1"/>
          </p:cNvSpPr>
          <p:nvPr>
            <p:ph type="title"/>
          </p:nvPr>
        </p:nvSpPr>
        <p:spPr/>
        <p:txBody>
          <a:bodyPr/>
          <a:lstStyle/>
          <a:p>
            <a:pPr algn="ctr" rtl="1"/>
            <a:r>
              <a:rPr lang="en-US" b="1" dirty="0"/>
              <a:t>DHT11</a:t>
            </a:r>
            <a:endParaRPr lang="en-US" dirty="0"/>
          </a:p>
        </p:txBody>
      </p:sp>
      <p:pic>
        <p:nvPicPr>
          <p:cNvPr id="4" name="Picture 3">
            <a:extLst>
              <a:ext uri="{FF2B5EF4-FFF2-40B4-BE49-F238E27FC236}">
                <a16:creationId xmlns:a16="http://schemas.microsoft.com/office/drawing/2014/main" id="{4E846446-0AF1-A349-861E-3E3DED746E8C}"/>
              </a:ext>
            </a:extLst>
          </p:cNvPr>
          <p:cNvPicPr>
            <a:picLocks noChangeAspect="1"/>
          </p:cNvPicPr>
          <p:nvPr/>
        </p:nvPicPr>
        <p:blipFill>
          <a:blip r:embed="rId2"/>
          <a:stretch>
            <a:fillRect/>
          </a:stretch>
        </p:blipFill>
        <p:spPr>
          <a:xfrm>
            <a:off x="4665662" y="2213428"/>
            <a:ext cx="2857500" cy="3263900"/>
          </a:xfrm>
          <a:prstGeom prst="rect">
            <a:avLst/>
          </a:prstGeom>
        </p:spPr>
      </p:pic>
    </p:spTree>
    <p:extLst>
      <p:ext uri="{BB962C8B-B14F-4D97-AF65-F5344CB8AC3E}">
        <p14:creationId xmlns:p14="http://schemas.microsoft.com/office/powerpoint/2010/main" val="24080549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{193B1FDA-1E71-FF43-86C6-9332277A32EF}tf10001122</Template>
  <TotalTime>47</TotalTime>
  <Words>430</Words>
  <Application>Microsoft Macintosh PowerPoint</Application>
  <PresentationFormat>Widescreen</PresentationFormat>
  <Paragraphs>48</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Tw Cen MT</vt:lpstr>
      <vt:lpstr>Circuit</vt:lpstr>
      <vt:lpstr>تقرير مشروع SMART PLANT</vt:lpstr>
      <vt:lpstr>فهرس</vt:lpstr>
      <vt:lpstr>اهداء </vt:lpstr>
      <vt:lpstr>المقدمة</vt:lpstr>
      <vt:lpstr>تصميم المشروع</vt:lpstr>
      <vt:lpstr>GPIO  المستخدم</vt:lpstr>
      <vt:lpstr>الأدوات المستخدمة</vt:lpstr>
      <vt:lpstr>الأدوات ESP8266</vt:lpstr>
      <vt:lpstr>DHT11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تقرير مشروع SMART PLANT</dc:title>
  <dc:creator>Microsoft Office User</dc:creator>
  <cp:lastModifiedBy>Microsoft Office User</cp:lastModifiedBy>
  <cp:revision>5</cp:revision>
  <dcterms:created xsi:type="dcterms:W3CDTF">2024-10-06T11:10:54Z</dcterms:created>
  <dcterms:modified xsi:type="dcterms:W3CDTF">2024-10-06T11:57:55Z</dcterms:modified>
</cp:coreProperties>
</file>